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Parallel rate (MVR/USD)</c:v>
                </c:pt>
              </c:strCache>
            </c:strRef>
          </c:tx>
          <c:spPr>
            <a:solidFill>
              <a:srgbClr val="B23A2E"/>
            </a:solidFill>
            <a:ln w="31750" cap="flat">
              <a:solidFill>
                <a:srgbClr val="B23A2E"/>
              </a:solidFill>
              <a:prstDash val="solid"/>
              <a:round/>
            </a:ln>
            <a:effectLst/>
          </c:spPr>
          <c:invertIfNegative val="0"/>
          <c:dLbls>
            <c:numFmt formatCode="0.00" sourceLinked="0"/>
            <c:txPr>
              <a:bodyPr/>
              <a:lstStyle/>
              <a:p>
                <a:pPr>
                  <a:defRPr b="0" i="0" strike="noStrike" sz="1000" u="none">
                    <a:solidFill>
                      <a:srgbClr val="1A2A33"/>
                    </a:solidFill>
                    <a:latin typeface="Arial"/>
                  </a:defRPr>
                </a:pPr>
              </a:p>
            </c:txPr>
            <c:dLblPos val="t"/>
            <c:showLegendKey val="0"/>
            <c:showVal val="1"/>
            <c:showCatName val="0"/>
            <c:showSerName val="0"/>
            <c:showPercent val="0"/>
            <c:showBubbleSize val="0"/>
            <c:showLeaderLines val="0"/>
          </c:dLbls>
          <c:marker>
            <c:symbol val="circle"/>
            <c:size val="6"/>
            <c:spPr>
              <a:solidFill>
                <a:srgbClr val="B23A2E"/>
              </a:solidFill>
              <a:ln w="9525" cap="flat">
                <a:solidFill>
                  <a:srgbClr val="B23A2E"/>
                </a:solidFill>
                <a:prstDash val="solid"/>
                <a:round/>
              </a:ln>
              <a:effectLst/>
            </c:spPr>
          </c:marker>
          <c:cat>
            <c:multiLvlStrRef>
              <c:f>Sheet1!$A$2:$A$5</c:f>
              <c:multiLvlStrCache>
                <c:ptCount val="4"/>
                <c:lvl>
                  <c:pt idx="0">
                    <c:v>2023</c:v>
                  </c:pt>
                  <c:pt idx="1">
                    <c:v>2024</c:v>
                  </c:pt>
                  <c:pt idx="2">
                    <c:v>2025</c:v>
                  </c:pt>
                  <c:pt idx="3">
                    <c:v>Aug 2026</c:v>
                  </c:pt>
                </c:lvl>
              </c:multiLvlStrCache>
            </c:multiLvlStrRef>
          </c:cat>
          <c:val>
            <c:numRef>
              <c:f>Sheet1!$B$2:$B$5</c:f>
              <c:numCache>
                <c:formatCode>General</c:formatCode>
                <c:ptCount val="4"/>
                <c:pt idx="0">
                  <c:v>17.45</c:v>
                </c:pt>
                <c:pt idx="1">
                  <c:v>19</c:v>
                </c:pt>
                <c:pt idx="2">
                  <c:v>20.05</c:v>
                </c:pt>
                <c:pt idx="3">
                  <c:v>22.25</c:v>
                </c:pt>
              </c:numCache>
            </c:numRef>
          </c:val>
          <c:smooth val="0"/>
        </c:ser>
        <c:dLbls>
          <c:numFmt formatCode="0.00" sourceLinked="0"/>
          <c:txPr>
            <a:bodyPr/>
            <a:lstStyle/>
            <a:p>
              <a:pPr>
                <a:defRPr b="0" i="0" strike="noStrike" sz="1000" u="none">
                  <a:solidFill>
                    <a:srgbClr val="1A2A33"/>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5"/>
                </a:solidFill>
                <a:latin typeface="Arial"/>
              </a:defRPr>
            </a:pPr>
            <a:endParaRPr lang="en-US"/>
          </a:p>
        </c:txPr>
        <c:crossAx val="2094734552"/>
        <c:crosses val="autoZero"/>
        <c:auto val="1"/>
        <c:lblAlgn val="ctr"/>
        <c:noMultiLvlLbl val="1"/>
      </c:catAx>
      <c:valAx>
        <c:axId val="2094734552"/>
        <c:scaling>
          <c:orientation val="minMax"/>
          <c:max val="24"/>
          <c:min val="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A2A33"/>
                </a:solidFill>
                <a:latin typeface="Arial"/>
              </a:defRPr>
            </a:pPr>
            <a:r>
              <a:rPr sz="1200" b="0" i="0" u="none" strike="noStrike">
                <a:solidFill>
                  <a:srgbClr val="1A2A33"/>
                </a:solidFill>
                <a:latin typeface="Arial"/>
              </a:rPr>
              <a:t>3-year NPV (MVR m) vs benefit realization</a:t>
            </a:r>
          </a:p>
        </c:rich>
      </c:tx>
      <c:layout/>
      <c:overlay val="0"/>
    </c:title>
    <c:autoTitleDeleted val="0"/>
    <c:plotArea>
      <c:layout/>
      <c:lineChart>
        <c:varyColors val="0"/>
        <c:ser>
          <c:idx val="0"/>
          <c:order val="0"/>
          <c:tx>
            <c:strRef>
              <c:f>Sheet1!$B$1</c:f>
              <c:strCache>
                <c:ptCount val="1"/>
                <c:pt idx="0">
                  <c:v>NPV base</c:v>
                </c:pt>
              </c:strCache>
            </c:strRef>
          </c:tx>
          <c:spPr>
            <a:solidFill>
              <a:srgbClr val="0B3C5D"/>
            </a:solidFill>
            <a:ln w="31750" cap="flat">
              <a:solidFill>
                <a:srgbClr val="0B3C5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3C5D"/>
              </a:solidFill>
              <a:ln w="9525" cap="flat">
                <a:solidFill>
                  <a:srgbClr val="0B3C5D"/>
                </a:solidFill>
                <a:prstDash val="solid"/>
                <a:round/>
              </a:ln>
              <a:effectLst/>
            </c:spPr>
          </c:marker>
          <c:cat>
            <c:multiLvlStrRef>
              <c:f>Sheet1!$A$2:$A$7</c:f>
              <c:multiLvlStrCache>
                <c:ptCount val="6"/>
                <c:lvl>
                  <c:pt idx="0">
                    <c:v>0%</c:v>
                  </c:pt>
                  <c:pt idx="1">
                    <c:v>20%</c:v>
                  </c:pt>
                  <c:pt idx="2">
                    <c:v>40%</c:v>
                  </c:pt>
                  <c:pt idx="3">
                    <c:v>60%</c:v>
                  </c:pt>
                  <c:pt idx="4">
                    <c:v>80%</c:v>
                  </c:pt>
                  <c:pt idx="5">
                    <c:v>100%</c:v>
                  </c:pt>
                </c:lvl>
              </c:multiLvlStrCache>
            </c:multiLvlStrRef>
          </c:cat>
          <c:val>
            <c:numRef>
              <c:f>Sheet1!$B$2:$B$7</c:f>
              <c:numCache>
                <c:formatCode>General</c:formatCode>
                <c:ptCount val="6"/>
                <c:pt idx="0">
                  <c:v>-6.9</c:v>
                </c:pt>
                <c:pt idx="1">
                  <c:v>1.2</c:v>
                </c:pt>
                <c:pt idx="2">
                  <c:v>9.2</c:v>
                </c:pt>
                <c:pt idx="3">
                  <c:v>17.3</c:v>
                </c:pt>
                <c:pt idx="4">
                  <c:v>25.4</c:v>
                </c:pt>
                <c:pt idx="5">
                  <c:v>33.4</c:v>
                </c:pt>
              </c:numCache>
            </c:numRef>
          </c:val>
          <c:smooth val="0"/>
        </c:ser>
        <c:ser>
          <c:idx val="1"/>
          <c:order val="1"/>
          <c:tx>
            <c:strRef>
              <c:f>Sheet1!$C$1</c:f>
              <c:strCache>
                <c:ptCount val="1"/>
                <c:pt idx="0">
                  <c:v>NPV with costs overrun +2/3</c:v>
                </c:pt>
              </c:strCache>
            </c:strRef>
          </c:tx>
          <c:spPr>
            <a:solidFill>
              <a:srgbClr val="D9A521"/>
            </a:solidFill>
            <a:ln w="31750" cap="flat">
              <a:solidFill>
                <a:srgbClr val="D9A52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A521"/>
              </a:solidFill>
              <a:ln w="9525" cap="flat">
                <a:solidFill>
                  <a:srgbClr val="D9A521"/>
                </a:solidFill>
                <a:prstDash val="solid"/>
                <a:round/>
              </a:ln>
              <a:effectLst/>
            </c:spPr>
          </c:marker>
          <c:cat>
            <c:multiLvlStrRef>
              <c:f>Sheet1!$A$2:$A$7</c:f>
              <c:multiLvlStrCache>
                <c:ptCount val="6"/>
                <c:lvl>
                  <c:pt idx="0">
                    <c:v>0%</c:v>
                  </c:pt>
                  <c:pt idx="1">
                    <c:v>20%</c:v>
                  </c:pt>
                  <c:pt idx="2">
                    <c:v>40%</c:v>
                  </c:pt>
                  <c:pt idx="3">
                    <c:v>60%</c:v>
                  </c:pt>
                  <c:pt idx="4">
                    <c:v>80%</c:v>
                  </c:pt>
                  <c:pt idx="5">
                    <c:v>100%</c:v>
                  </c:pt>
                </c:lvl>
              </c:multiLvlStrCache>
            </c:multiLvlStrRef>
          </c:cat>
          <c:val>
            <c:numRef>
              <c:f>Sheet1!$C$2:$C$7</c:f>
              <c:numCache>
                <c:formatCode>General</c:formatCode>
                <c:ptCount val="6"/>
                <c:pt idx="0">
                  <c:v>-4.4</c:v>
                </c:pt>
                <c:pt idx="1">
                  <c:v>3.5</c:v>
                </c:pt>
                <c:pt idx="2">
                  <c:v>11.4</c:v>
                </c:pt>
                <c:pt idx="3">
                  <c:v>19.3</c:v>
                </c:pt>
                <c:pt idx="4">
                  <c:v>27.2</c:v>
                </c:pt>
                <c:pt idx="5">
                  <c:v>35.1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D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7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asking this panel to approve Project Fen Rakkaa: a twelve month, MVR 4.5 million project to close the gap between the currency MWSC earns in and the currency it spends in. Five minutes: the problem, the evidence, the options, the value, the risks, then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itself names this the top corporate challenge. The parallel rate hit 22.25 on 11 August, a 44 percent premium over the peg. Reserves halved in four months to 1.4 months of import cover. MWSC earns almost nothing in dollars but buys membranes, pumps, chemicals and pipes in dollars. The trend line shows this is structural, not a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is visible in the accounts. Revenue fell 13 percent in 2025, profit fell by about a third, and the 2026 budget gap widened from 2 to 11 percent between quarters. Exposure is estimated at 40 to 70 million rufiyaa a year; I adopt 55 as a conservative planning estimate and I am explicit that it is an assumption. That is why the exposure register is the first deliverable. The diagnosis found four internal root causes: no dollar revenue, no treasury controls, no FX clauses, no owner. All four are within MWSC's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genuinely distinct options. A is the baseline: free today, expensive over time. B fixes treasury for 1.5 million but leaves revenue entirely in rufiyaa. C is the integrated project and the only option that addresses all four root causes. The weightings were set before scoring. I stress tested them: even doubling the cost weight and cutting strategic fit, C still ranks first. And B is not discarded; it is the priced fallback if Gate 2 shows benefits below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case. NPV of 33.4 million over three years against 8.1 million total cost, benefit cost ratio 5.8, payback inside Year 1. The number I want the panel to hold is 17 percent: the project breaks even if only 17 percent of the modelled benefits appear. The chart shows NPV stays positive from around 20 percent realization even if running costs overrun by two thirds. I am open about the limitation: benefits rest on an assumed dollar-linked cost share, which is why the exposure register is deliverable one and why I quote no IRR.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 deliberately gated because the environment is complex and unpredictable; the design is probe, learn, adjust. Gate 1 at month 6 tests whether governance is actually live. Gate 2 at month 12 tests whether at least 35 percent of projected benefits are real; if not, we fall back to Option B at a known price. Every outcome has a named owner: business development owns USD billing, procurement owns the spend reduction, the CFO owns the buffer, legal owns the clause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principal risks, each stated as cause, event, effect, each with an owner, a trigger and a priced response. The two 15s are macro events: a peg adjustment and dollar rationing. The project cannot prevent them, and that is precisely the argument for it: bands, buffers and fallbacks instead of assumed stability. Residual scores assume the response work is done. Anything scoring 12 or more escalates to EXCO.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approve Option C. A gated 4.5 million, 0.3 percent of revenue, against exposure in the tens of millions. It delivers three goals the Business Plan has already set. Failure is defined in advance, measured at two gates, and priced through the Option B fallback. I welcome the panel's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2743200" y="5577840"/>
            <a:ext cx="18288000" cy="3657600"/>
          </a:xfrm>
          <a:prstGeom prst="ellipse">
            <a:avLst/>
          </a:prstGeom>
          <a:solidFill>
            <a:srgbClr val="1D6A96">
              <a:alpha val="22000"/>
            </a:srgbClr>
          </a:solidFill>
          <a:ln/>
        </p:spPr>
      </p:sp>
      <p:sp>
        <p:nvSpPr>
          <p:cNvPr id="3" name="Shape 1"/>
          <p:cNvSpPr/>
          <p:nvPr/>
        </p:nvSpPr>
        <p:spPr>
          <a:xfrm>
            <a:off x="-4572000" y="6126480"/>
            <a:ext cx="21945600" cy="3657600"/>
          </a:xfrm>
          <a:prstGeom prst="ellipse">
            <a:avLst/>
          </a:prstGeom>
          <a:solidFill>
            <a:srgbClr val="1D6A96">
              <a:alpha val="40000"/>
            </a:srgbClr>
          </a:solidFill>
          <a:ln/>
        </p:spPr>
      </p:sp>
      <p:sp>
        <p:nvSpPr>
          <p:cNvPr id="4" name="Text 2"/>
          <p:cNvSpPr/>
          <p:nvPr/>
        </p:nvSpPr>
        <p:spPr>
          <a:xfrm>
            <a:off x="822960" y="1371600"/>
            <a:ext cx="10515600" cy="365760"/>
          </a:xfrm>
          <a:prstGeom prst="rect">
            <a:avLst/>
          </a:prstGeom>
          <a:noFill/>
          <a:ln/>
        </p:spPr>
        <p:txBody>
          <a:bodyPr wrap="square" lIns="0" tIns="0" rIns="0" bIns="0" rtlCol="0" anchor="ctr"/>
          <a:lstStyle/>
          <a:p>
            <a:pPr indent="0" marL="0">
              <a:buNone/>
            </a:pPr>
            <a:r>
              <a:rPr lang="en-US" sz="1500" spc="200" kern="0" dirty="0">
                <a:solidFill>
                  <a:srgbClr val="9FC2D8"/>
                </a:solidFill>
                <a:latin typeface="Calibri" pitchFamily="34" charset="0"/>
                <a:ea typeface="Calibri" pitchFamily="34" charset="-122"/>
                <a:cs typeface="Calibri" pitchFamily="34" charset="-120"/>
              </a:rPr>
              <a:t>MWSC | STRATEGIC PROJECT DEVELOPMENT PROPOSAL</a:t>
            </a:r>
            <a:endParaRPr lang="en-US" sz="1500" dirty="0"/>
          </a:p>
        </p:txBody>
      </p:sp>
      <p:sp>
        <p:nvSpPr>
          <p:cNvPr id="5" name="Text 3"/>
          <p:cNvSpPr/>
          <p:nvPr/>
        </p:nvSpPr>
        <p:spPr>
          <a:xfrm>
            <a:off x="822960" y="1874520"/>
            <a:ext cx="10515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PROJECT FEN RAKKAA</a:t>
            </a:r>
            <a:endParaRPr lang="en-US" sz="5400" dirty="0"/>
          </a:p>
        </p:txBody>
      </p:sp>
      <p:sp>
        <p:nvSpPr>
          <p:cNvPr id="6" name="Text 4"/>
          <p:cNvSpPr/>
          <p:nvPr/>
        </p:nvSpPr>
        <p:spPr>
          <a:xfrm>
            <a:off x="822960" y="2880360"/>
            <a:ext cx="10515600" cy="457200"/>
          </a:xfrm>
          <a:prstGeom prst="rect">
            <a:avLst/>
          </a:prstGeom>
          <a:noFill/>
          <a:ln/>
        </p:spPr>
        <p:txBody>
          <a:bodyPr wrap="square" lIns="0" tIns="0" rIns="0" bIns="0" rtlCol="0" anchor="ctr"/>
          <a:lstStyle/>
          <a:p>
            <a:pPr indent="0" marL="0">
              <a:buNone/>
            </a:pPr>
            <a:r>
              <a:rPr lang="en-US" sz="2000" i="1" dirty="0">
                <a:solidFill>
                  <a:srgbClr val="CFE3EF"/>
                </a:solidFill>
                <a:latin typeface="Calibri" pitchFamily="34" charset="0"/>
                <a:ea typeface="Calibri" pitchFamily="34" charset="-122"/>
                <a:cs typeface="Calibri" pitchFamily="34" charset="-120"/>
              </a:rPr>
              <a:t>Closing the gap between rufiyaa income and dollar spending</a:t>
            </a:r>
            <a:endParaRPr lang="en-US" sz="2000" dirty="0"/>
          </a:p>
        </p:txBody>
      </p:sp>
      <p:sp>
        <p:nvSpPr>
          <p:cNvPr id="7" name="Text 5"/>
          <p:cNvSpPr/>
          <p:nvPr/>
        </p:nvSpPr>
        <p:spPr>
          <a:xfrm>
            <a:off x="822960" y="3703320"/>
            <a:ext cx="10058400" cy="457200"/>
          </a:xfrm>
          <a:prstGeom prst="rect">
            <a:avLst/>
          </a:prstGeom>
          <a:noFill/>
          <a:ln/>
        </p:spPr>
        <p:txBody>
          <a:bodyPr wrap="square" lIns="0" tIns="0" rIns="0" bIns="0" rtlCol="0" anchor="ctr"/>
          <a:lstStyle/>
          <a:p>
            <a:pPr indent="0" marL="0">
              <a:buNone/>
            </a:pPr>
            <a:r>
              <a:rPr lang="en-US" sz="1700" b="1" dirty="0">
                <a:solidFill>
                  <a:srgbClr val="D9A521"/>
                </a:solidFill>
                <a:latin typeface="Calibri" pitchFamily="34" charset="0"/>
                <a:ea typeface="Calibri" pitchFamily="34" charset="-122"/>
                <a:cs typeface="Calibri" pitchFamily="34" charset="-120"/>
              </a:rPr>
              <a:t>Decision requested:  </a:t>
            </a:r>
            <a:pPr indent="0" marL="0">
              <a:buNone/>
            </a:pPr>
            <a:r>
              <a:rPr lang="en-US" sz="1700" dirty="0">
                <a:solidFill>
                  <a:srgbClr val="FFFFFF"/>
                </a:solidFill>
                <a:latin typeface="Calibri" pitchFamily="34" charset="0"/>
                <a:ea typeface="Calibri" pitchFamily="34" charset="-122"/>
                <a:cs typeface="Calibri" pitchFamily="34" charset="-120"/>
              </a:rPr>
              <a:t>approve a gated MVR 4.5m project against exposure in the tens of millions</a:t>
            </a:r>
            <a:endParaRPr lang="en-US" sz="1700" dirty="0"/>
          </a:p>
        </p:txBody>
      </p:sp>
      <p:sp>
        <p:nvSpPr>
          <p:cNvPr id="8" name="Text 6"/>
          <p:cNvSpPr/>
          <p:nvPr/>
        </p:nvSpPr>
        <p:spPr>
          <a:xfrm>
            <a:off x="822960" y="5806440"/>
            <a:ext cx="10515600" cy="365760"/>
          </a:xfrm>
          <a:prstGeom prst="rect">
            <a:avLst/>
          </a:prstGeom>
          <a:noFill/>
          <a:ln/>
        </p:spPr>
        <p:txBody>
          <a:bodyPr wrap="square" lIns="0" tIns="0" rIns="0" bIns="0" rtlCol="0" anchor="ctr"/>
          <a:lstStyle/>
          <a:p>
            <a:pPr indent="0" marL="0">
              <a:buNone/>
            </a:pPr>
            <a:r>
              <a:rPr lang="en-US" sz="1300" dirty="0">
                <a:solidFill>
                  <a:srgbClr val="9FC2D8"/>
                </a:solidFill>
                <a:latin typeface="Calibri" pitchFamily="34" charset="0"/>
                <a:ea typeface="Calibri" pitchFamily="34" charset="-122"/>
                <a:cs typeface="Calibri" pitchFamily="34" charset="-120"/>
              </a:rPr>
              <a:t>Hussain Shaany  S2610358   |   PTMT9002 Strategic Project Development   |   15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68580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The problem: MWSC earns in MVR and spends in USD</a:t>
            </a:r>
            <a:endParaRPr lang="en-US" sz="3200" dirty="0"/>
          </a:p>
        </p:txBody>
      </p:sp>
      <p:sp>
        <p:nvSpPr>
          <p:cNvPr id="3" name="Text 1"/>
          <p:cNvSpPr/>
          <p:nvPr/>
        </p:nvSpPr>
        <p:spPr>
          <a:xfrm>
            <a:off x="502920" y="987552"/>
            <a:ext cx="11155680" cy="365760"/>
          </a:xfrm>
          <a:prstGeom prst="rect">
            <a:avLst/>
          </a:prstGeom>
          <a:noFill/>
          <a:ln/>
        </p:spPr>
        <p:txBody>
          <a:bodyPr wrap="square" lIns="0" tIns="0" rIns="0" bIns="0" rtlCol="0" anchor="ctr"/>
          <a:lstStyle/>
          <a:p>
            <a:pPr indent="0" marL="0">
              <a:buNone/>
            </a:pPr>
            <a:r>
              <a:rPr lang="en-US" sz="1500" dirty="0">
                <a:solidFill>
                  <a:srgbClr val="5B6B75"/>
                </a:solidFill>
                <a:latin typeface="Calibri" pitchFamily="34" charset="0"/>
                <a:ea typeface="Calibri" pitchFamily="34" charset="-122"/>
                <a:cs typeface="Calibri" pitchFamily="34" charset="-120"/>
              </a:rPr>
              <a:t>Business Plan 2026 ranks the USD exchange rate crisis as the top corporate challenge (MWSC, 2025a)</a:t>
            </a:r>
            <a:endParaRPr lang="en-US" sz="150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PTMT9002 | Project Fen Rakkaa | Hussain Shaany S2610358</a:t>
            </a:r>
            <a:endParaRPr lang="en-US" sz="900" dirty="0"/>
          </a:p>
        </p:txBody>
      </p:sp>
      <p:sp>
        <p:nvSpPr>
          <p:cNvPr id="5" name="Text 3"/>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02920" y="1600200"/>
            <a:ext cx="3611880" cy="2286000"/>
          </a:xfrm>
          <a:prstGeom prst="roundRect">
            <a:avLst>
              <a:gd name="adj" fmla="val 3200"/>
            </a:avLst>
          </a:prstGeom>
          <a:solidFill>
            <a:srgbClr val="EAF2F7"/>
          </a:solidFill>
          <a:ln/>
        </p:spPr>
      </p:sp>
      <p:sp>
        <p:nvSpPr>
          <p:cNvPr id="7" name="Text 5"/>
          <p:cNvSpPr/>
          <p:nvPr/>
        </p:nvSpPr>
        <p:spPr>
          <a:xfrm>
            <a:off x="731520" y="1783080"/>
            <a:ext cx="3154680" cy="868680"/>
          </a:xfrm>
          <a:prstGeom prst="rect">
            <a:avLst/>
          </a:prstGeom>
          <a:noFill/>
          <a:ln/>
        </p:spPr>
        <p:txBody>
          <a:bodyPr wrap="square" lIns="0" tIns="0" rIns="0" bIns="0" rtlCol="0" anchor="ctr"/>
          <a:lstStyle/>
          <a:p>
            <a:pPr indent="0" marL="0">
              <a:buNone/>
            </a:pPr>
            <a:r>
              <a:rPr lang="en-US" sz="4800" b="1" dirty="0">
                <a:solidFill>
                  <a:srgbClr val="B23A2E"/>
                </a:solidFill>
                <a:latin typeface="Cambria" pitchFamily="34" charset="0"/>
                <a:ea typeface="Cambria" pitchFamily="34" charset="-122"/>
                <a:cs typeface="Cambria" pitchFamily="34" charset="-120"/>
              </a:rPr>
              <a:t>22.25</a:t>
            </a:r>
            <a:endParaRPr lang="en-US" sz="4800" dirty="0"/>
          </a:p>
        </p:txBody>
      </p:sp>
      <p:sp>
        <p:nvSpPr>
          <p:cNvPr id="8" name="Text 6"/>
          <p:cNvSpPr/>
          <p:nvPr/>
        </p:nvSpPr>
        <p:spPr>
          <a:xfrm>
            <a:off x="731520" y="2624328"/>
            <a:ext cx="3154680" cy="320040"/>
          </a:xfrm>
          <a:prstGeom prst="rect">
            <a:avLst/>
          </a:prstGeom>
          <a:noFill/>
          <a:ln/>
        </p:spPr>
        <p:txBody>
          <a:bodyPr wrap="square" lIns="0" tIns="0" rIns="0" bIns="0" rtlCol="0" anchor="ctr"/>
          <a:lstStyle/>
          <a:p>
            <a:pPr indent="0" marL="0">
              <a:buNone/>
            </a:pPr>
            <a:r>
              <a:rPr lang="en-US" sz="1400" b="1" dirty="0">
                <a:solidFill>
                  <a:srgbClr val="1A2A33"/>
                </a:solidFill>
                <a:latin typeface="Calibri" pitchFamily="34" charset="0"/>
                <a:ea typeface="Calibri" pitchFamily="34" charset="-122"/>
                <a:cs typeface="Calibri" pitchFamily="34" charset="-120"/>
              </a:rPr>
              <a:t>MVR per USD</a:t>
            </a:r>
            <a:endParaRPr lang="en-US" sz="1400" dirty="0"/>
          </a:p>
        </p:txBody>
      </p:sp>
      <p:sp>
        <p:nvSpPr>
          <p:cNvPr id="9" name="Text 7"/>
          <p:cNvSpPr/>
          <p:nvPr/>
        </p:nvSpPr>
        <p:spPr>
          <a:xfrm>
            <a:off x="731520" y="2971800"/>
            <a:ext cx="3154680" cy="822960"/>
          </a:xfrm>
          <a:prstGeom prst="rect">
            <a:avLst/>
          </a:prstGeom>
          <a:noFill/>
          <a:ln/>
        </p:spPr>
        <p:txBody>
          <a:bodyPr wrap="square" lIns="0" tIns="0" rIns="0" bIns="0" rtlCol="0" anchor="ctr"/>
          <a:lstStyle/>
          <a:p>
            <a:pPr indent="0" marL="0">
              <a:buNone/>
            </a:pPr>
            <a:r>
              <a:rPr lang="en-US" sz="1150" dirty="0">
                <a:solidFill>
                  <a:srgbClr val="5B6B75"/>
                </a:solidFill>
                <a:latin typeface="Calibri" pitchFamily="34" charset="0"/>
                <a:ea typeface="Calibri" pitchFamily="34" charset="-122"/>
                <a:cs typeface="Calibri" pitchFamily="34" charset="-120"/>
              </a:rPr>
              <a:t>Parallel market rate, 11 Aug 2026. Official peg 15.42. Premium 44% (Adhadhu, 2026; MMA, 2026)</a:t>
            </a:r>
            <a:endParaRPr lang="en-US" sz="1150" dirty="0"/>
          </a:p>
        </p:txBody>
      </p:sp>
      <p:sp>
        <p:nvSpPr>
          <p:cNvPr id="10" name="Shape 8"/>
          <p:cNvSpPr/>
          <p:nvPr/>
        </p:nvSpPr>
        <p:spPr>
          <a:xfrm>
            <a:off x="4297680" y="1600200"/>
            <a:ext cx="3611880" cy="2286000"/>
          </a:xfrm>
          <a:prstGeom prst="roundRect">
            <a:avLst>
              <a:gd name="adj" fmla="val 3200"/>
            </a:avLst>
          </a:prstGeom>
          <a:solidFill>
            <a:srgbClr val="EAF2F7"/>
          </a:solidFill>
          <a:ln/>
        </p:spPr>
      </p:sp>
      <p:sp>
        <p:nvSpPr>
          <p:cNvPr id="11" name="Text 9"/>
          <p:cNvSpPr/>
          <p:nvPr/>
        </p:nvSpPr>
        <p:spPr>
          <a:xfrm>
            <a:off x="4526280" y="1783080"/>
            <a:ext cx="3154680" cy="868680"/>
          </a:xfrm>
          <a:prstGeom prst="rect">
            <a:avLst/>
          </a:prstGeom>
          <a:noFill/>
          <a:ln/>
        </p:spPr>
        <p:txBody>
          <a:bodyPr wrap="square" lIns="0" tIns="0" rIns="0" bIns="0" rtlCol="0" anchor="ctr"/>
          <a:lstStyle/>
          <a:p>
            <a:pPr indent="0" marL="0">
              <a:buNone/>
            </a:pPr>
            <a:r>
              <a:rPr lang="en-US" sz="4800" b="1" dirty="0">
                <a:solidFill>
                  <a:srgbClr val="D9A521"/>
                </a:solidFill>
                <a:latin typeface="Cambria" pitchFamily="34" charset="0"/>
                <a:ea typeface="Cambria" pitchFamily="34" charset="-122"/>
                <a:cs typeface="Cambria" pitchFamily="34" charset="-120"/>
              </a:rPr>
              <a:t>$638m</a:t>
            </a:r>
            <a:endParaRPr lang="en-US" sz="4800" dirty="0"/>
          </a:p>
        </p:txBody>
      </p:sp>
      <p:sp>
        <p:nvSpPr>
          <p:cNvPr id="12" name="Text 10"/>
          <p:cNvSpPr/>
          <p:nvPr/>
        </p:nvSpPr>
        <p:spPr>
          <a:xfrm>
            <a:off x="4526280" y="2624328"/>
            <a:ext cx="3154680" cy="320040"/>
          </a:xfrm>
          <a:prstGeom prst="rect">
            <a:avLst/>
          </a:prstGeom>
          <a:noFill/>
          <a:ln/>
        </p:spPr>
        <p:txBody>
          <a:bodyPr wrap="square" lIns="0" tIns="0" rIns="0" bIns="0" rtlCol="0" anchor="ctr"/>
          <a:lstStyle/>
          <a:p>
            <a:pPr indent="0" marL="0">
              <a:buNone/>
            </a:pPr>
            <a:r>
              <a:rPr lang="en-US" sz="1400" b="1" dirty="0">
                <a:solidFill>
                  <a:srgbClr val="1A2A33"/>
                </a:solidFill>
                <a:latin typeface="Calibri" pitchFamily="34" charset="0"/>
                <a:ea typeface="Calibri" pitchFamily="34" charset="-122"/>
                <a:cs typeface="Calibri" pitchFamily="34" charset="-120"/>
              </a:rPr>
              <a:t>Gross reserves, Jul 2026</a:t>
            </a:r>
            <a:endParaRPr lang="en-US" sz="1400" dirty="0"/>
          </a:p>
        </p:txBody>
      </p:sp>
      <p:sp>
        <p:nvSpPr>
          <p:cNvPr id="13" name="Text 11"/>
          <p:cNvSpPr/>
          <p:nvPr/>
        </p:nvSpPr>
        <p:spPr>
          <a:xfrm>
            <a:off x="4526280" y="2971800"/>
            <a:ext cx="3154680" cy="822960"/>
          </a:xfrm>
          <a:prstGeom prst="rect">
            <a:avLst/>
          </a:prstGeom>
          <a:noFill/>
          <a:ln/>
        </p:spPr>
        <p:txBody>
          <a:bodyPr wrap="square" lIns="0" tIns="0" rIns="0" bIns="0" rtlCol="0" anchor="ctr"/>
          <a:lstStyle/>
          <a:p>
            <a:pPr indent="0" marL="0">
              <a:buNone/>
            </a:pPr>
            <a:r>
              <a:rPr lang="en-US" sz="1150" dirty="0">
                <a:solidFill>
                  <a:srgbClr val="5B6B75"/>
                </a:solidFill>
                <a:latin typeface="Calibri" pitchFamily="34" charset="0"/>
                <a:ea typeface="Calibri" pitchFamily="34" charset="-122"/>
                <a:cs typeface="Calibri" pitchFamily="34" charset="-120"/>
              </a:rPr>
              <a:t>Fell from $1.33bn (Mar) to $717.9m (Apr, 1.4 months import cover) after the $500m sukuk settlement, still falling (MMA, 2026)</a:t>
            </a:r>
            <a:endParaRPr lang="en-US" sz="1150" dirty="0"/>
          </a:p>
        </p:txBody>
      </p:sp>
      <p:sp>
        <p:nvSpPr>
          <p:cNvPr id="14" name="Shape 12"/>
          <p:cNvSpPr/>
          <p:nvPr/>
        </p:nvSpPr>
        <p:spPr>
          <a:xfrm>
            <a:off x="8092440" y="1600200"/>
            <a:ext cx="3611880" cy="2286000"/>
          </a:xfrm>
          <a:prstGeom prst="roundRect">
            <a:avLst>
              <a:gd name="adj" fmla="val 3200"/>
            </a:avLst>
          </a:prstGeom>
          <a:solidFill>
            <a:srgbClr val="EAF2F7"/>
          </a:solidFill>
          <a:ln/>
        </p:spPr>
      </p:sp>
      <p:sp>
        <p:nvSpPr>
          <p:cNvPr id="15" name="Text 13"/>
          <p:cNvSpPr/>
          <p:nvPr/>
        </p:nvSpPr>
        <p:spPr>
          <a:xfrm>
            <a:off x="8321040" y="1783080"/>
            <a:ext cx="3154680" cy="868680"/>
          </a:xfrm>
          <a:prstGeom prst="rect">
            <a:avLst/>
          </a:prstGeom>
          <a:noFill/>
          <a:ln/>
        </p:spPr>
        <p:txBody>
          <a:bodyPr wrap="square" lIns="0" tIns="0" rIns="0" bIns="0" rtlCol="0" anchor="ctr"/>
          <a:lstStyle/>
          <a:p>
            <a:pPr indent="0" marL="0">
              <a:buNone/>
            </a:pPr>
            <a:r>
              <a:rPr lang="en-US" sz="4800" b="1" dirty="0">
                <a:solidFill>
                  <a:srgbClr val="0B3C5D"/>
                </a:solidFill>
                <a:latin typeface="Cambria" pitchFamily="34" charset="0"/>
                <a:ea typeface="Cambria" pitchFamily="34" charset="-122"/>
                <a:cs typeface="Cambria" pitchFamily="34" charset="-120"/>
              </a:rPr>
              <a:t>~0%</a:t>
            </a:r>
            <a:endParaRPr lang="en-US" sz="4800" dirty="0"/>
          </a:p>
        </p:txBody>
      </p:sp>
      <p:sp>
        <p:nvSpPr>
          <p:cNvPr id="16" name="Text 14"/>
          <p:cNvSpPr/>
          <p:nvPr/>
        </p:nvSpPr>
        <p:spPr>
          <a:xfrm>
            <a:off x="8321040" y="2624328"/>
            <a:ext cx="3154680" cy="320040"/>
          </a:xfrm>
          <a:prstGeom prst="rect">
            <a:avLst/>
          </a:prstGeom>
          <a:noFill/>
          <a:ln/>
        </p:spPr>
        <p:txBody>
          <a:bodyPr wrap="square" lIns="0" tIns="0" rIns="0" bIns="0" rtlCol="0" anchor="ctr"/>
          <a:lstStyle/>
          <a:p>
            <a:pPr indent="0" marL="0">
              <a:buNone/>
            </a:pPr>
            <a:r>
              <a:rPr lang="en-US" sz="1400" b="1" dirty="0">
                <a:solidFill>
                  <a:srgbClr val="1A2A33"/>
                </a:solidFill>
                <a:latin typeface="Calibri" pitchFamily="34" charset="0"/>
                <a:ea typeface="Calibri" pitchFamily="34" charset="-122"/>
                <a:cs typeface="Calibri" pitchFamily="34" charset="-120"/>
              </a:rPr>
              <a:t>of MWSC revenue in USD</a:t>
            </a:r>
            <a:endParaRPr lang="en-US" sz="1400" dirty="0"/>
          </a:p>
        </p:txBody>
      </p:sp>
      <p:sp>
        <p:nvSpPr>
          <p:cNvPr id="17" name="Text 15"/>
          <p:cNvSpPr/>
          <p:nvPr/>
        </p:nvSpPr>
        <p:spPr>
          <a:xfrm>
            <a:off x="8321040" y="2971800"/>
            <a:ext cx="3154680" cy="822960"/>
          </a:xfrm>
          <a:prstGeom prst="rect">
            <a:avLst/>
          </a:prstGeom>
          <a:noFill/>
          <a:ln/>
        </p:spPr>
        <p:txBody>
          <a:bodyPr wrap="square" lIns="0" tIns="0" rIns="0" bIns="0" rtlCol="0" anchor="ctr"/>
          <a:lstStyle/>
          <a:p>
            <a:pPr indent="0" marL="0">
              <a:buNone/>
            </a:pPr>
            <a:r>
              <a:rPr lang="en-US" sz="1150" dirty="0">
                <a:solidFill>
                  <a:srgbClr val="5B6B75"/>
                </a:solidFill>
                <a:latin typeface="Calibri" pitchFamily="34" charset="0"/>
                <a:ea typeface="Calibri" pitchFamily="34" charset="-122"/>
                <a:cs typeface="Calibri" pitchFamily="34" charset="-120"/>
              </a:rPr>
              <a:t>Membranes, pumps, chemicals, pipes and meters all purchased in dollars (MWSC/AGO, 2025)</a:t>
            </a:r>
            <a:endParaRPr lang="en-US" sz="1150" dirty="0"/>
          </a:p>
        </p:txBody>
      </p:sp>
      <p:sp>
        <p:nvSpPr>
          <p:cNvPr id="18" name="Text 16"/>
          <p:cNvSpPr/>
          <p:nvPr/>
        </p:nvSpPr>
        <p:spPr>
          <a:xfrm>
            <a:off x="502920" y="4206240"/>
            <a:ext cx="11155680" cy="640080"/>
          </a:xfrm>
          <a:prstGeom prst="rect">
            <a:avLst/>
          </a:prstGeom>
          <a:noFill/>
          <a:ln/>
        </p:spPr>
        <p:txBody>
          <a:bodyPr wrap="square" lIns="0" tIns="0" rIns="0" bIns="0" rtlCol="0" anchor="ctr"/>
          <a:lstStyle/>
          <a:p>
            <a:pPr indent="0" marL="0">
              <a:buNone/>
            </a:pPr>
            <a:r>
              <a:rPr lang="en-US" sz="1600" b="1" dirty="0">
                <a:solidFill>
                  <a:srgbClr val="0B3C5D"/>
                </a:solidFill>
                <a:latin typeface="Calibri" pitchFamily="34" charset="0"/>
                <a:ea typeface="Calibri" pitchFamily="34" charset="-122"/>
                <a:cs typeface="Calibri" pitchFamily="34" charset="-120"/>
              </a:rPr>
              <a:t>Structural, not temporary: </a:t>
            </a:r>
            <a:pPr indent="0" marL="0">
              <a:buNone/>
            </a:pPr>
            <a:r>
              <a:rPr lang="en-US" sz="1600" dirty="0">
                <a:solidFill>
                  <a:srgbClr val="1A2A33"/>
                </a:solidFill>
                <a:latin typeface="Calibri" pitchFamily="34" charset="0"/>
                <a:ea typeface="Calibri" pitchFamily="34" charset="-122"/>
                <a:cs typeface="Calibri" pitchFamily="34" charset="-120"/>
              </a:rPr>
              <a:t>the premium has widened steadily for two years. Every dollar of imports now costs 44% more rufiyaa than the budget rate assumes.</a:t>
            </a:r>
            <a:endParaRPr lang="en-US" sz="1600" dirty="0"/>
          </a:p>
        </p:txBody>
      </p:sp>
      <p:graphicFrame>
        <p:nvGraphicFramePr>
          <p:cNvPr id="19" name="Chart 0" descr=""/>
          <p:cNvGraphicFramePr/>
          <p:nvPr/>
        </p:nvGraphicFramePr>
        <p:xfrm>
          <a:off x="502920" y="4709160"/>
          <a:ext cx="7498080" cy="164592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p:nvPr/>
        </p:nvSpPr>
        <p:spPr>
          <a:xfrm>
            <a:off x="8229600" y="5349240"/>
            <a:ext cx="3383280" cy="365760"/>
          </a:xfrm>
          <a:prstGeom prst="rect">
            <a:avLst/>
          </a:prstGeom>
          <a:noFill/>
          <a:ln/>
        </p:spPr>
        <p:txBody>
          <a:bodyPr wrap="square" lIns="0" tIns="0" rIns="0" bIns="0" rtlCol="0" anchor="ctr"/>
          <a:lstStyle/>
          <a:p>
            <a:pPr indent="0" marL="0">
              <a:buNone/>
            </a:pPr>
            <a:r>
              <a:rPr lang="en-US" sz="1200" i="1" dirty="0">
                <a:solidFill>
                  <a:srgbClr val="5B6B75"/>
                </a:solidFill>
                <a:latin typeface="Calibri" pitchFamily="34" charset="0"/>
                <a:ea typeface="Calibri" pitchFamily="34" charset="-122"/>
                <a:cs typeface="Calibri" pitchFamily="34" charset="-120"/>
              </a:rPr>
              <a:t>Official peg: 15.42 throughout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68580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The evidence: the mismatch is already costing MWSC</a:t>
            </a:r>
            <a:endParaRPr lang="en-US" sz="3200" dirty="0"/>
          </a:p>
        </p:txBody>
      </p:sp>
      <p:sp>
        <p:nvSpPr>
          <p:cNvPr id="3" name="Text 1"/>
          <p:cNvSpPr/>
          <p:nvPr/>
        </p:nvSpPr>
        <p:spPr>
          <a:xfrm>
            <a:off x="502920" y="987552"/>
            <a:ext cx="11155680" cy="365760"/>
          </a:xfrm>
          <a:prstGeom prst="rect">
            <a:avLst/>
          </a:prstGeom>
          <a:noFill/>
          <a:ln/>
        </p:spPr>
        <p:txBody>
          <a:bodyPr wrap="square" lIns="0" tIns="0" rIns="0" bIns="0" rtlCol="0" anchor="ctr"/>
          <a:lstStyle/>
          <a:p>
            <a:pPr indent="0" marL="0">
              <a:buNone/>
            </a:pPr>
            <a:r>
              <a:rPr lang="en-US" sz="1500" dirty="0">
                <a:solidFill>
                  <a:srgbClr val="5B6B75"/>
                </a:solidFill>
                <a:latin typeface="Calibri" pitchFamily="34" charset="0"/>
                <a:ea typeface="Calibri" pitchFamily="34" charset="-122"/>
                <a:cs typeface="Calibri" pitchFamily="34" charset="-120"/>
              </a:rPr>
              <a:t>Audited FY2024 and quarterly disclosures (MWSC/AGO, 2025; MWSC, 2026)</a:t>
            </a:r>
            <a:endParaRPr lang="en-US" sz="150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PTMT9002 | Project Fen Rakkaa | Hussain Shaany S2610358</a:t>
            </a:r>
            <a:endParaRPr lang="en-US" sz="900" dirty="0"/>
          </a:p>
        </p:txBody>
      </p:sp>
      <p:sp>
        <p:nvSpPr>
          <p:cNvPr id="5" name="Text 3"/>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02920" y="1554480"/>
            <a:ext cx="6858000" cy="658368"/>
          </a:xfrm>
          <a:prstGeom prst="roundRect">
            <a:avLst>
              <a:gd name="adj" fmla="val 8333"/>
            </a:avLst>
          </a:prstGeom>
          <a:solidFill>
            <a:srgbClr val="EAF2F7"/>
          </a:solidFill>
          <a:ln w="9525">
            <a:solidFill>
              <a:srgbClr val="D5E3EC"/>
            </a:solidFill>
            <a:prstDash val="solid"/>
          </a:ln>
        </p:spPr>
      </p:sp>
      <p:sp>
        <p:nvSpPr>
          <p:cNvPr id="7" name="Text 5"/>
          <p:cNvSpPr/>
          <p:nvPr/>
        </p:nvSpPr>
        <p:spPr>
          <a:xfrm>
            <a:off x="685800" y="1609344"/>
            <a:ext cx="2468880" cy="548640"/>
          </a:xfrm>
          <a:prstGeom prst="rect">
            <a:avLst/>
          </a:prstGeom>
          <a:noFill/>
          <a:ln/>
        </p:spPr>
        <p:txBody>
          <a:bodyPr wrap="square" lIns="0" tIns="0" rIns="0" bIns="0" rtlCol="0" anchor="ctr"/>
          <a:lstStyle/>
          <a:p>
            <a:pPr indent="0" marL="0">
              <a:buNone/>
            </a:pPr>
            <a:r>
              <a:rPr lang="en-US" sz="1300" b="1" dirty="0">
                <a:solidFill>
                  <a:srgbClr val="0B3C5D"/>
                </a:solidFill>
                <a:latin typeface="Calibri" pitchFamily="34" charset="0"/>
                <a:ea typeface="Calibri" pitchFamily="34" charset="-122"/>
                <a:cs typeface="Calibri" pitchFamily="34" charset="-120"/>
              </a:rPr>
              <a:t>FY2025 revenue</a:t>
            </a:r>
            <a:endParaRPr lang="en-US" sz="1300" dirty="0"/>
          </a:p>
        </p:txBody>
      </p:sp>
      <p:sp>
        <p:nvSpPr>
          <p:cNvPr id="8" name="Text 6"/>
          <p:cNvSpPr/>
          <p:nvPr/>
        </p:nvSpPr>
        <p:spPr>
          <a:xfrm>
            <a:off x="3200400" y="1609344"/>
            <a:ext cx="4023360" cy="548640"/>
          </a:xfrm>
          <a:prstGeom prst="rect">
            <a:avLst/>
          </a:prstGeom>
          <a:noFill/>
          <a:ln/>
        </p:spPr>
        <p:txBody>
          <a:bodyPr wrap="square" lIns="0" tIns="0" rIns="0" bIns="0" rtlCol="0" anchor="ctr"/>
          <a:lstStyle/>
          <a:p>
            <a:pPr indent="0" marL="0">
              <a:buNone/>
            </a:pPr>
            <a:r>
              <a:rPr lang="en-US" sz="1200" dirty="0">
                <a:solidFill>
                  <a:srgbClr val="1A2A33"/>
                </a:solidFill>
                <a:latin typeface="Calibri" pitchFamily="34" charset="0"/>
                <a:ea typeface="Calibri" pitchFamily="34" charset="-122"/>
                <a:cs typeface="Calibri" pitchFamily="34" charset="-120"/>
              </a:rPr>
              <a:t>MVR 1.37bn, down 13% on 2024 and 62% of the annual goal</a:t>
            </a:r>
            <a:endParaRPr lang="en-US" sz="1200" dirty="0"/>
          </a:p>
        </p:txBody>
      </p:sp>
      <p:sp>
        <p:nvSpPr>
          <p:cNvPr id="9" name="Shape 7"/>
          <p:cNvSpPr/>
          <p:nvPr/>
        </p:nvSpPr>
        <p:spPr>
          <a:xfrm>
            <a:off x="502920" y="2304288"/>
            <a:ext cx="6858000" cy="658368"/>
          </a:xfrm>
          <a:prstGeom prst="roundRect">
            <a:avLst>
              <a:gd name="adj" fmla="val 8333"/>
            </a:avLst>
          </a:prstGeom>
          <a:solidFill>
            <a:srgbClr val="FFFFFF"/>
          </a:solidFill>
          <a:ln w="9525">
            <a:solidFill>
              <a:srgbClr val="D5E3EC"/>
            </a:solidFill>
            <a:prstDash val="solid"/>
          </a:ln>
        </p:spPr>
      </p:sp>
      <p:sp>
        <p:nvSpPr>
          <p:cNvPr id="10" name="Text 8"/>
          <p:cNvSpPr/>
          <p:nvPr/>
        </p:nvSpPr>
        <p:spPr>
          <a:xfrm>
            <a:off x="685800" y="2359152"/>
            <a:ext cx="2468880" cy="548640"/>
          </a:xfrm>
          <a:prstGeom prst="rect">
            <a:avLst/>
          </a:prstGeom>
          <a:noFill/>
          <a:ln/>
        </p:spPr>
        <p:txBody>
          <a:bodyPr wrap="square" lIns="0" tIns="0" rIns="0" bIns="0" rtlCol="0" anchor="ctr"/>
          <a:lstStyle/>
          <a:p>
            <a:pPr indent="0" marL="0">
              <a:buNone/>
            </a:pPr>
            <a:r>
              <a:rPr lang="en-US" sz="1300" b="1" dirty="0">
                <a:solidFill>
                  <a:srgbClr val="0B3C5D"/>
                </a:solidFill>
                <a:latin typeface="Calibri" pitchFamily="34" charset="0"/>
                <a:ea typeface="Calibri" pitchFamily="34" charset="-122"/>
                <a:cs typeface="Calibri" pitchFamily="34" charset="-120"/>
              </a:rPr>
              <a:t>FY2025 profit after tax</a:t>
            </a:r>
            <a:endParaRPr lang="en-US" sz="1300" dirty="0"/>
          </a:p>
        </p:txBody>
      </p:sp>
      <p:sp>
        <p:nvSpPr>
          <p:cNvPr id="11" name="Text 9"/>
          <p:cNvSpPr/>
          <p:nvPr/>
        </p:nvSpPr>
        <p:spPr>
          <a:xfrm>
            <a:off x="3200400" y="2359152"/>
            <a:ext cx="4023360" cy="548640"/>
          </a:xfrm>
          <a:prstGeom prst="rect">
            <a:avLst/>
          </a:prstGeom>
          <a:noFill/>
          <a:ln/>
        </p:spPr>
        <p:txBody>
          <a:bodyPr wrap="square" lIns="0" tIns="0" rIns="0" bIns="0" rtlCol="0" anchor="ctr"/>
          <a:lstStyle/>
          <a:p>
            <a:pPr indent="0" marL="0">
              <a:buNone/>
            </a:pPr>
            <a:r>
              <a:rPr lang="en-US" sz="1200" dirty="0">
                <a:solidFill>
                  <a:srgbClr val="1A2A33"/>
                </a:solidFill>
                <a:latin typeface="Calibri" pitchFamily="34" charset="0"/>
                <a:ea typeface="Calibri" pitchFamily="34" charset="-122"/>
                <a:cs typeface="Calibri" pitchFamily="34" charset="-120"/>
              </a:rPr>
              <a:t>MVR 146m, down by about a third from 2024</a:t>
            </a:r>
            <a:endParaRPr lang="en-US" sz="1200" dirty="0"/>
          </a:p>
        </p:txBody>
      </p:sp>
      <p:sp>
        <p:nvSpPr>
          <p:cNvPr id="12" name="Shape 10"/>
          <p:cNvSpPr/>
          <p:nvPr/>
        </p:nvSpPr>
        <p:spPr>
          <a:xfrm>
            <a:off x="502920" y="3054096"/>
            <a:ext cx="6858000" cy="658368"/>
          </a:xfrm>
          <a:prstGeom prst="roundRect">
            <a:avLst>
              <a:gd name="adj" fmla="val 8333"/>
            </a:avLst>
          </a:prstGeom>
          <a:solidFill>
            <a:srgbClr val="EAF2F7"/>
          </a:solidFill>
          <a:ln w="9525">
            <a:solidFill>
              <a:srgbClr val="D5E3EC"/>
            </a:solidFill>
            <a:prstDash val="solid"/>
          </a:ln>
        </p:spPr>
      </p:sp>
      <p:sp>
        <p:nvSpPr>
          <p:cNvPr id="13" name="Text 11"/>
          <p:cNvSpPr/>
          <p:nvPr/>
        </p:nvSpPr>
        <p:spPr>
          <a:xfrm>
            <a:off x="685800" y="3108960"/>
            <a:ext cx="2468880" cy="548640"/>
          </a:xfrm>
          <a:prstGeom prst="rect">
            <a:avLst/>
          </a:prstGeom>
          <a:noFill/>
          <a:ln/>
        </p:spPr>
        <p:txBody>
          <a:bodyPr wrap="square" lIns="0" tIns="0" rIns="0" bIns="0" rtlCol="0" anchor="ctr"/>
          <a:lstStyle/>
          <a:p>
            <a:pPr indent="0" marL="0">
              <a:buNone/>
            </a:pPr>
            <a:r>
              <a:rPr lang="en-US" sz="1300" b="1" dirty="0">
                <a:solidFill>
                  <a:srgbClr val="0B3C5D"/>
                </a:solidFill>
                <a:latin typeface="Calibri" pitchFamily="34" charset="0"/>
                <a:ea typeface="Calibri" pitchFamily="34" charset="-122"/>
                <a:cs typeface="Calibri" pitchFamily="34" charset="-120"/>
              </a:rPr>
              <a:t>H1 2026 revenue gap</a:t>
            </a:r>
            <a:endParaRPr lang="en-US" sz="1300" dirty="0"/>
          </a:p>
        </p:txBody>
      </p:sp>
      <p:sp>
        <p:nvSpPr>
          <p:cNvPr id="14" name="Text 12"/>
          <p:cNvSpPr/>
          <p:nvPr/>
        </p:nvSpPr>
        <p:spPr>
          <a:xfrm>
            <a:off x="3200400" y="3108960"/>
            <a:ext cx="4023360" cy="548640"/>
          </a:xfrm>
          <a:prstGeom prst="rect">
            <a:avLst/>
          </a:prstGeom>
          <a:noFill/>
          <a:ln/>
        </p:spPr>
        <p:txBody>
          <a:bodyPr wrap="square" lIns="0" tIns="0" rIns="0" bIns="0" rtlCol="0" anchor="ctr"/>
          <a:lstStyle/>
          <a:p>
            <a:pPr indent="0" marL="0">
              <a:buNone/>
            </a:pPr>
            <a:r>
              <a:rPr lang="en-US" sz="1200" dirty="0">
                <a:solidFill>
                  <a:srgbClr val="1A2A33"/>
                </a:solidFill>
                <a:latin typeface="Calibri" pitchFamily="34" charset="0"/>
                <a:ea typeface="Calibri" pitchFamily="34" charset="-122"/>
                <a:cs typeface="Calibri" pitchFamily="34" charset="-120"/>
              </a:rPr>
              <a:t>6.4% below budget, widening from 1.9% (Q1) to 10.9% (Q2)</a:t>
            </a:r>
            <a:endParaRPr lang="en-US" sz="1200" dirty="0"/>
          </a:p>
        </p:txBody>
      </p:sp>
      <p:sp>
        <p:nvSpPr>
          <p:cNvPr id="15" name="Shape 13"/>
          <p:cNvSpPr/>
          <p:nvPr/>
        </p:nvSpPr>
        <p:spPr>
          <a:xfrm>
            <a:off x="502920" y="3803904"/>
            <a:ext cx="6858000" cy="658368"/>
          </a:xfrm>
          <a:prstGeom prst="roundRect">
            <a:avLst>
              <a:gd name="adj" fmla="val 8333"/>
            </a:avLst>
          </a:prstGeom>
          <a:solidFill>
            <a:srgbClr val="FFFFFF"/>
          </a:solidFill>
          <a:ln w="9525">
            <a:solidFill>
              <a:srgbClr val="D5E3EC"/>
            </a:solidFill>
            <a:prstDash val="solid"/>
          </a:ln>
        </p:spPr>
      </p:sp>
      <p:sp>
        <p:nvSpPr>
          <p:cNvPr id="16" name="Text 14"/>
          <p:cNvSpPr/>
          <p:nvPr/>
        </p:nvSpPr>
        <p:spPr>
          <a:xfrm>
            <a:off x="685800" y="3858768"/>
            <a:ext cx="2468880" cy="548640"/>
          </a:xfrm>
          <a:prstGeom prst="rect">
            <a:avLst/>
          </a:prstGeom>
          <a:noFill/>
          <a:ln/>
        </p:spPr>
        <p:txBody>
          <a:bodyPr wrap="square" lIns="0" tIns="0" rIns="0" bIns="0" rtlCol="0" anchor="ctr"/>
          <a:lstStyle/>
          <a:p>
            <a:pPr indent="0" marL="0">
              <a:buNone/>
            </a:pPr>
            <a:r>
              <a:rPr lang="en-US" sz="1300" b="1" dirty="0">
                <a:solidFill>
                  <a:srgbClr val="0B3C5D"/>
                </a:solidFill>
                <a:latin typeface="Calibri" pitchFamily="34" charset="0"/>
                <a:ea typeface="Calibri" pitchFamily="34" charset="-122"/>
                <a:cs typeface="Calibri" pitchFamily="34" charset="-120"/>
              </a:rPr>
              <a:t>Cash vs receivables</a:t>
            </a:r>
            <a:endParaRPr lang="en-US" sz="1300" dirty="0"/>
          </a:p>
        </p:txBody>
      </p:sp>
      <p:sp>
        <p:nvSpPr>
          <p:cNvPr id="17" name="Text 15"/>
          <p:cNvSpPr/>
          <p:nvPr/>
        </p:nvSpPr>
        <p:spPr>
          <a:xfrm>
            <a:off x="3200400" y="3858768"/>
            <a:ext cx="4023360" cy="548640"/>
          </a:xfrm>
          <a:prstGeom prst="rect">
            <a:avLst/>
          </a:prstGeom>
          <a:noFill/>
          <a:ln/>
        </p:spPr>
        <p:txBody>
          <a:bodyPr wrap="square" lIns="0" tIns="0" rIns="0" bIns="0" rtlCol="0" anchor="ctr"/>
          <a:lstStyle/>
          <a:p>
            <a:pPr indent="0" marL="0">
              <a:buNone/>
            </a:pPr>
            <a:r>
              <a:rPr lang="en-US" sz="1200" dirty="0">
                <a:solidFill>
                  <a:srgbClr val="1A2A33"/>
                </a:solidFill>
                <a:latin typeface="Calibri" pitchFamily="34" charset="0"/>
                <a:ea typeface="Calibri" pitchFamily="34" charset="-122"/>
                <a:cs typeface="Calibri" pitchFamily="34" charset="-120"/>
              </a:rPr>
              <a:t>MVR 50.2m cash against MVR 877.8m receivables; MVR 192.1m impairment flagged as a Key Audit Matter</a:t>
            </a:r>
            <a:endParaRPr lang="en-US" sz="1200" dirty="0"/>
          </a:p>
        </p:txBody>
      </p:sp>
      <p:sp>
        <p:nvSpPr>
          <p:cNvPr id="18" name="Shape 16"/>
          <p:cNvSpPr/>
          <p:nvPr/>
        </p:nvSpPr>
        <p:spPr>
          <a:xfrm>
            <a:off x="7635240" y="1554480"/>
            <a:ext cx="4023360" cy="2926080"/>
          </a:xfrm>
          <a:prstGeom prst="roundRect">
            <a:avLst>
              <a:gd name="adj" fmla="val 2500"/>
            </a:avLst>
          </a:prstGeom>
          <a:solidFill>
            <a:srgbClr val="0B3C5D"/>
          </a:solidFill>
          <a:ln/>
        </p:spPr>
      </p:sp>
      <p:sp>
        <p:nvSpPr>
          <p:cNvPr id="19" name="Text 17"/>
          <p:cNvSpPr/>
          <p:nvPr/>
        </p:nvSpPr>
        <p:spPr>
          <a:xfrm>
            <a:off x="7863840" y="1783080"/>
            <a:ext cx="3566160" cy="365760"/>
          </a:xfrm>
          <a:prstGeom prst="rect">
            <a:avLst/>
          </a:prstGeom>
          <a:noFill/>
          <a:ln/>
        </p:spPr>
        <p:txBody>
          <a:bodyPr wrap="square" lIns="0" tIns="0" rIns="0" bIns="0" rtlCol="0" anchor="ctr"/>
          <a:lstStyle/>
          <a:p>
            <a:pPr indent="0" marL="0">
              <a:buNone/>
            </a:pPr>
            <a:r>
              <a:rPr lang="en-US" sz="1400" b="1" dirty="0">
                <a:solidFill>
                  <a:srgbClr val="9FC2D8"/>
                </a:solidFill>
                <a:latin typeface="Calibri" pitchFamily="34" charset="0"/>
                <a:ea typeface="Calibri" pitchFamily="34" charset="-122"/>
                <a:cs typeface="Calibri" pitchFamily="34" charset="-120"/>
              </a:rPr>
              <a:t>Unmanaged FX exposure</a:t>
            </a:r>
            <a:endParaRPr lang="en-US" sz="1400" dirty="0"/>
          </a:p>
        </p:txBody>
      </p:sp>
      <p:sp>
        <p:nvSpPr>
          <p:cNvPr id="20" name="Text 18"/>
          <p:cNvSpPr/>
          <p:nvPr/>
        </p:nvSpPr>
        <p:spPr>
          <a:xfrm>
            <a:off x="7863840" y="2148840"/>
            <a:ext cx="3566160" cy="731520"/>
          </a:xfrm>
          <a:prstGeom prst="rect">
            <a:avLst/>
          </a:prstGeom>
          <a:noFill/>
          <a:ln/>
        </p:spPr>
        <p:txBody>
          <a:bodyPr wrap="square" lIns="0" tIns="0" rIns="0" bIns="0" rtlCol="0" anchor="ctr"/>
          <a:lstStyle/>
          <a:p>
            <a:pPr indent="0" marL="0">
              <a:buNone/>
            </a:pPr>
            <a:r>
              <a:rPr lang="en-US" sz="4000" b="1" dirty="0">
                <a:solidFill>
                  <a:srgbClr val="D9A521"/>
                </a:solidFill>
                <a:latin typeface="Cambria" pitchFamily="34" charset="0"/>
                <a:ea typeface="Cambria" pitchFamily="34" charset="-122"/>
                <a:cs typeface="Cambria" pitchFamily="34" charset="-120"/>
              </a:rPr>
              <a:t>MVR 40–70m</a:t>
            </a:r>
            <a:endParaRPr lang="en-US" sz="4000" dirty="0"/>
          </a:p>
        </p:txBody>
      </p:sp>
      <p:sp>
        <p:nvSpPr>
          <p:cNvPr id="21" name="Text 19"/>
          <p:cNvSpPr/>
          <p:nvPr/>
        </p:nvSpPr>
        <p:spPr>
          <a:xfrm>
            <a:off x="7863840" y="2880360"/>
            <a:ext cx="356616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per year</a:t>
            </a:r>
            <a:endParaRPr lang="en-US" sz="1400" dirty="0"/>
          </a:p>
        </p:txBody>
      </p:sp>
      <p:sp>
        <p:nvSpPr>
          <p:cNvPr id="22" name="Text 20"/>
          <p:cNvSpPr/>
          <p:nvPr/>
        </p:nvSpPr>
        <p:spPr>
          <a:xfrm>
            <a:off x="7863840" y="3246120"/>
            <a:ext cx="3566160" cy="1097280"/>
          </a:xfrm>
          <a:prstGeom prst="rect">
            <a:avLst/>
          </a:prstGeom>
          <a:noFill/>
          <a:ln/>
        </p:spPr>
        <p:txBody>
          <a:bodyPr wrap="square" lIns="0" tIns="0" rIns="0" bIns="0" rtlCol="0" anchor="ctr"/>
          <a:lstStyle/>
          <a:p>
            <a:pPr indent="0" marL="0">
              <a:buNone/>
            </a:pPr>
            <a:r>
              <a:rPr lang="en-US" sz="1150" dirty="0">
                <a:solidFill>
                  <a:srgbClr val="CFE3EF"/>
                </a:solidFill>
                <a:latin typeface="Calibri" pitchFamily="34" charset="0"/>
                <a:ea typeface="Calibri" pitchFamily="34" charset="-122"/>
                <a:cs typeface="Calibri" pitchFamily="34" charset="-120"/>
              </a:rPr>
              <a:t>Planning estimate A2: MVR 55m adopted. Derived from 2024 operating costs of MVR 935.3m at a 20–25% dollar-linked share, at realized rates.</a:t>
            </a:r>
            <a:endParaRPr lang="en-US" sz="1150" dirty="0"/>
          </a:p>
        </p:txBody>
      </p:sp>
      <p:sp>
        <p:nvSpPr>
          <p:cNvPr id="23" name="Text 21"/>
          <p:cNvSpPr/>
          <p:nvPr/>
        </p:nvSpPr>
        <p:spPr>
          <a:xfrm>
            <a:off x="502920" y="4800600"/>
            <a:ext cx="11155680" cy="777240"/>
          </a:xfrm>
          <a:prstGeom prst="rect">
            <a:avLst/>
          </a:prstGeom>
          <a:noFill/>
          <a:ln/>
        </p:spPr>
        <p:txBody>
          <a:bodyPr wrap="square" lIns="0" tIns="0" rIns="0" bIns="0" rtlCol="0" anchor="ctr"/>
          <a:lstStyle/>
          <a:p>
            <a:pPr indent="0" marL="0">
              <a:buNone/>
            </a:pPr>
            <a:r>
              <a:rPr lang="en-US" sz="1600" b="1" dirty="0">
                <a:solidFill>
                  <a:srgbClr val="B23A2E"/>
                </a:solidFill>
                <a:latin typeface="Calibri" pitchFamily="34" charset="0"/>
                <a:ea typeface="Calibri" pitchFamily="34" charset="-122"/>
                <a:cs typeface="Calibri" pitchFamily="34" charset="-120"/>
              </a:rPr>
              <a:t>Doing nothing is the expensive option: </a:t>
            </a:r>
            <a:pPr indent="0" marL="0">
              <a:buNone/>
            </a:pPr>
            <a:r>
              <a:rPr lang="en-US" sz="1600" dirty="0">
                <a:solidFill>
                  <a:srgbClr val="1A2A33"/>
                </a:solidFill>
                <a:latin typeface="Calibri" pitchFamily="34" charset="0"/>
                <a:ea typeface="Calibri" pitchFamily="34" charset="-122"/>
                <a:cs typeface="Calibri" pitchFamily="34" charset="-120"/>
              </a:rPr>
              <a:t>losses are hidden and accumulate as the currency erodes. The exposure register is the first deliverable, so the estimate is replaced by measured values.</a:t>
            </a:r>
            <a:endParaRPr lang="en-US" sz="1600" dirty="0"/>
          </a:p>
        </p:txBody>
      </p:sp>
      <p:sp>
        <p:nvSpPr>
          <p:cNvPr id="24" name="Text 22"/>
          <p:cNvSpPr/>
          <p:nvPr/>
        </p:nvSpPr>
        <p:spPr>
          <a:xfrm>
            <a:off x="502920" y="5623560"/>
            <a:ext cx="11155680" cy="548640"/>
          </a:xfrm>
          <a:prstGeom prst="rect">
            <a:avLst/>
          </a:prstGeom>
          <a:noFill/>
          <a:ln/>
        </p:spPr>
        <p:txBody>
          <a:bodyPr wrap="square" lIns="0" tIns="0" rIns="0" bIns="0" rtlCol="0" anchor="ctr"/>
          <a:lstStyle/>
          <a:p>
            <a:pPr indent="0" marL="0">
              <a:buNone/>
            </a:pPr>
            <a:r>
              <a:rPr lang="en-US" sz="1400" b="1" dirty="0">
                <a:solidFill>
                  <a:srgbClr val="0B3C5D"/>
                </a:solidFill>
                <a:latin typeface="Calibri" pitchFamily="34" charset="0"/>
                <a:ea typeface="Calibri" pitchFamily="34" charset="-122"/>
                <a:cs typeface="Calibri" pitchFamily="34" charset="-120"/>
              </a:rPr>
              <a:t>Four internal root causes, all actionable:  </a:t>
            </a:r>
            <a:pPr indent="0" marL="0">
              <a:buNone/>
            </a:pPr>
            <a:r>
              <a:rPr lang="en-US" sz="1400" dirty="0">
                <a:solidFill>
                  <a:srgbClr val="1A2A33"/>
                </a:solidFill>
                <a:latin typeface="Calibri" pitchFamily="34" charset="0"/>
                <a:ea typeface="Calibri" pitchFamily="34" charset="-122"/>
                <a:cs typeface="Calibri" pitchFamily="34" charset="-120"/>
              </a:rPr>
              <a:t>1. No dollar revenue   2. No treasury controls   3. No FX clauses in contracts   4. No single owner of FX risk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68580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Three distinct options, appraised before scoring</a:t>
            </a:r>
            <a:endParaRPr lang="en-US" sz="3200" dirty="0"/>
          </a:p>
        </p:txBody>
      </p:sp>
      <p:sp>
        <p:nvSpPr>
          <p:cNvPr id="3" name="Text 1"/>
          <p:cNvSpPr/>
          <p:nvPr/>
        </p:nvSpPr>
        <p:spPr>
          <a:xfrm>
            <a:off x="502920" y="987552"/>
            <a:ext cx="11155680" cy="365760"/>
          </a:xfrm>
          <a:prstGeom prst="rect">
            <a:avLst/>
          </a:prstGeom>
          <a:noFill/>
          <a:ln/>
        </p:spPr>
        <p:txBody>
          <a:bodyPr wrap="square" lIns="0" tIns="0" rIns="0" bIns="0" rtlCol="0" anchor="ctr"/>
          <a:lstStyle/>
          <a:p>
            <a:pPr indent="0" marL="0">
              <a:buNone/>
            </a:pPr>
            <a:r>
              <a:rPr lang="en-US" sz="1500" dirty="0">
                <a:solidFill>
                  <a:srgbClr val="5B6B75"/>
                </a:solidFill>
                <a:latin typeface="Calibri" pitchFamily="34" charset="0"/>
                <a:ea typeface="Calibri" pitchFamily="34" charset="-122"/>
                <a:cs typeface="Calibri" pitchFamily="34" charset="-120"/>
              </a:rPr>
              <a:t>Criteria and weightings fixed in advance; scores 1–5 (workings in the proposal, Section 4.1)</a:t>
            </a:r>
            <a:endParaRPr lang="en-US" sz="150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PTMT9002 | Project Fen Rakkaa | Hussain Shaany S2610358</a:t>
            </a:r>
            <a:endParaRPr lang="en-US" sz="900" dirty="0"/>
          </a:p>
        </p:txBody>
      </p:sp>
      <p:sp>
        <p:nvSpPr>
          <p:cNvPr id="5" name="Text 3"/>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02920" y="1600200"/>
            <a:ext cx="3611880" cy="3063240"/>
          </a:xfrm>
          <a:prstGeom prst="roundRect">
            <a:avLst>
              <a:gd name="adj" fmla="val 2388"/>
            </a:avLst>
          </a:prstGeom>
          <a:solidFill>
            <a:srgbClr val="FFFFFF"/>
          </a:solidFill>
          <a:ln w="12700">
            <a:solidFill>
              <a:srgbClr val="C9D6DE"/>
            </a:solidFill>
            <a:prstDash val="solid"/>
          </a:ln>
        </p:spPr>
      </p:sp>
      <p:sp>
        <p:nvSpPr>
          <p:cNvPr id="7" name="Text 5"/>
          <p:cNvSpPr/>
          <p:nvPr/>
        </p:nvSpPr>
        <p:spPr>
          <a:xfrm>
            <a:off x="731520" y="1764792"/>
            <a:ext cx="3154680" cy="365760"/>
          </a:xfrm>
          <a:prstGeom prst="rect">
            <a:avLst/>
          </a:prstGeom>
          <a:noFill/>
          <a:ln/>
        </p:spPr>
        <p:txBody>
          <a:bodyPr wrap="square" lIns="0" tIns="0" rIns="0" bIns="0" rtlCol="0" anchor="ctr"/>
          <a:lstStyle/>
          <a:p>
            <a:pPr indent="0" marL="0">
              <a:buNone/>
            </a:pPr>
            <a:r>
              <a:rPr lang="en-US" sz="1700" b="1" dirty="0">
                <a:solidFill>
                  <a:srgbClr val="5B6B75"/>
                </a:solidFill>
                <a:latin typeface="Cambria" pitchFamily="34" charset="0"/>
                <a:ea typeface="Cambria" pitchFamily="34" charset="-122"/>
                <a:cs typeface="Cambria" pitchFamily="34" charset="-120"/>
              </a:rPr>
              <a:t>A. Do Nothing</a:t>
            </a:r>
            <a:endParaRPr lang="en-US" sz="1700" dirty="0"/>
          </a:p>
        </p:txBody>
      </p:sp>
      <p:sp>
        <p:nvSpPr>
          <p:cNvPr id="8" name="Text 6"/>
          <p:cNvSpPr/>
          <p:nvPr/>
        </p:nvSpPr>
        <p:spPr>
          <a:xfrm>
            <a:off x="731520" y="2130552"/>
            <a:ext cx="3154680" cy="274320"/>
          </a:xfrm>
          <a:prstGeom prst="rect">
            <a:avLst/>
          </a:prstGeom>
          <a:noFill/>
          <a:ln/>
        </p:spPr>
        <p:txBody>
          <a:bodyPr wrap="square" lIns="0" tIns="0" rIns="0" bIns="0" rtlCol="0" anchor="ctr"/>
          <a:lstStyle/>
          <a:p>
            <a:pPr indent="0" marL="0">
              <a:buNone/>
            </a:pPr>
            <a:r>
              <a:rPr lang="en-US" sz="1100" i="1" dirty="0">
                <a:solidFill>
                  <a:srgbClr val="5B6B75"/>
                </a:solidFill>
                <a:latin typeface="Calibri" pitchFamily="34" charset="0"/>
                <a:ea typeface="Calibri" pitchFamily="34" charset="-122"/>
                <a:cs typeface="Calibri" pitchFamily="34" charset="-120"/>
              </a:rPr>
              <a:t>Baseline</a:t>
            </a:r>
            <a:endParaRPr lang="en-US" sz="1100" dirty="0"/>
          </a:p>
        </p:txBody>
      </p:sp>
      <p:sp>
        <p:nvSpPr>
          <p:cNvPr id="9" name="Text 7"/>
          <p:cNvSpPr/>
          <p:nvPr/>
        </p:nvSpPr>
        <p:spPr>
          <a:xfrm>
            <a:off x="731520" y="2468880"/>
            <a:ext cx="3154680" cy="1417320"/>
          </a:xfrm>
          <a:prstGeom prst="rect">
            <a:avLst/>
          </a:prstGeom>
          <a:noFill/>
          <a:ln/>
        </p:spPr>
        <p:txBody>
          <a:bodyPr wrap="square" lIns="0" tIns="0" rIns="0" bIns="0" rtlCol="0" anchor="ctr"/>
          <a:lstStyle/>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No cost, no disruption</a:t>
            </a:r>
            <a:endParaRPr lang="en-US" sz="1150" dirty="0"/>
          </a:p>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Leaves MVR 40–70m p.a. exposed</a:t>
            </a:r>
            <a:endParaRPr lang="en-US" sz="1150" dirty="0"/>
          </a:p>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Fails every strategic objective</a:t>
            </a:r>
            <a:endParaRPr lang="en-US" sz="1150" dirty="0"/>
          </a:p>
        </p:txBody>
      </p:sp>
      <p:sp>
        <p:nvSpPr>
          <p:cNvPr id="10" name="Text 8"/>
          <p:cNvSpPr/>
          <p:nvPr/>
        </p:nvSpPr>
        <p:spPr>
          <a:xfrm>
            <a:off x="731520" y="3886200"/>
            <a:ext cx="3154680" cy="274320"/>
          </a:xfrm>
          <a:prstGeom prst="rect">
            <a:avLst/>
          </a:prstGeom>
          <a:noFill/>
          <a:ln/>
        </p:spPr>
        <p:txBody>
          <a:bodyPr wrap="square" lIns="0" tIns="0" rIns="0" bIns="0" rtlCol="0" anchor="ctr"/>
          <a:lstStyle/>
          <a:p>
            <a:pPr indent="0" marL="0">
              <a:buNone/>
            </a:pPr>
            <a:r>
              <a:rPr lang="en-US" sz="1050" dirty="0">
                <a:solidFill>
                  <a:srgbClr val="5B6B75"/>
                </a:solidFill>
                <a:latin typeface="Calibri" pitchFamily="34" charset="0"/>
                <a:ea typeface="Calibri" pitchFamily="34" charset="-122"/>
                <a:cs typeface="Calibri" pitchFamily="34" charset="-120"/>
              </a:rPr>
              <a:t>Weighted score</a:t>
            </a:r>
            <a:endParaRPr lang="en-US" sz="1050" dirty="0"/>
          </a:p>
        </p:txBody>
      </p:sp>
      <p:sp>
        <p:nvSpPr>
          <p:cNvPr id="11" name="Text 9"/>
          <p:cNvSpPr/>
          <p:nvPr/>
        </p:nvSpPr>
        <p:spPr>
          <a:xfrm>
            <a:off x="731520" y="4087368"/>
            <a:ext cx="3154680" cy="502920"/>
          </a:xfrm>
          <a:prstGeom prst="rect">
            <a:avLst/>
          </a:prstGeom>
          <a:noFill/>
          <a:ln/>
        </p:spPr>
        <p:txBody>
          <a:bodyPr wrap="square" lIns="0" tIns="0" rIns="0" bIns="0" rtlCol="0" anchor="ctr"/>
          <a:lstStyle/>
          <a:p>
            <a:pPr indent="0" marL="0">
              <a:buNone/>
            </a:pPr>
            <a:r>
              <a:rPr lang="en-US" sz="3000" b="1" dirty="0">
                <a:solidFill>
                  <a:srgbClr val="5B6B75"/>
                </a:solidFill>
                <a:latin typeface="Cambria" pitchFamily="34" charset="0"/>
                <a:ea typeface="Cambria" pitchFamily="34" charset="-122"/>
                <a:cs typeface="Cambria" pitchFamily="34" charset="-120"/>
              </a:rPr>
              <a:t>2.45</a:t>
            </a:r>
            <a:endParaRPr lang="en-US" sz="3000" dirty="0"/>
          </a:p>
        </p:txBody>
      </p:sp>
      <p:sp>
        <p:nvSpPr>
          <p:cNvPr id="12" name="Shape 10"/>
          <p:cNvSpPr/>
          <p:nvPr/>
        </p:nvSpPr>
        <p:spPr>
          <a:xfrm>
            <a:off x="4297680" y="1600200"/>
            <a:ext cx="3611880" cy="3063240"/>
          </a:xfrm>
          <a:prstGeom prst="roundRect">
            <a:avLst>
              <a:gd name="adj" fmla="val 2388"/>
            </a:avLst>
          </a:prstGeom>
          <a:solidFill>
            <a:srgbClr val="FFFFFF"/>
          </a:solidFill>
          <a:ln w="12700">
            <a:solidFill>
              <a:srgbClr val="C9D6DE"/>
            </a:solidFill>
            <a:prstDash val="solid"/>
          </a:ln>
        </p:spPr>
      </p:sp>
      <p:sp>
        <p:nvSpPr>
          <p:cNvPr id="13" name="Text 11"/>
          <p:cNvSpPr/>
          <p:nvPr/>
        </p:nvSpPr>
        <p:spPr>
          <a:xfrm>
            <a:off x="4526280" y="1764792"/>
            <a:ext cx="3154680" cy="365760"/>
          </a:xfrm>
          <a:prstGeom prst="rect">
            <a:avLst/>
          </a:prstGeom>
          <a:noFill/>
          <a:ln/>
        </p:spPr>
        <p:txBody>
          <a:bodyPr wrap="square" lIns="0" tIns="0" rIns="0" bIns="0" rtlCol="0" anchor="ctr"/>
          <a:lstStyle/>
          <a:p>
            <a:pPr indent="0" marL="0">
              <a:buNone/>
            </a:pPr>
            <a:r>
              <a:rPr lang="en-US" sz="1700" b="1" dirty="0">
                <a:solidFill>
                  <a:srgbClr val="1D6A96"/>
                </a:solidFill>
                <a:latin typeface="Cambria" pitchFamily="34" charset="0"/>
                <a:ea typeface="Cambria" pitchFamily="34" charset="-122"/>
                <a:cs typeface="Cambria" pitchFamily="34" charset="-120"/>
              </a:rPr>
              <a:t>B. Treasury Fix</a:t>
            </a:r>
            <a:endParaRPr lang="en-US" sz="1700" dirty="0"/>
          </a:p>
        </p:txBody>
      </p:sp>
      <p:sp>
        <p:nvSpPr>
          <p:cNvPr id="14" name="Text 12"/>
          <p:cNvSpPr/>
          <p:nvPr/>
        </p:nvSpPr>
        <p:spPr>
          <a:xfrm>
            <a:off x="4526280" y="2130552"/>
            <a:ext cx="3154680" cy="274320"/>
          </a:xfrm>
          <a:prstGeom prst="rect">
            <a:avLst/>
          </a:prstGeom>
          <a:noFill/>
          <a:ln/>
        </p:spPr>
        <p:txBody>
          <a:bodyPr wrap="square" lIns="0" tIns="0" rIns="0" bIns="0" rtlCol="0" anchor="ctr"/>
          <a:lstStyle/>
          <a:p>
            <a:pPr indent="0" marL="0">
              <a:buNone/>
            </a:pPr>
            <a:r>
              <a:rPr lang="en-US" sz="1100" i="1" dirty="0">
                <a:solidFill>
                  <a:srgbClr val="5B6B75"/>
                </a:solidFill>
                <a:latin typeface="Calibri" pitchFamily="34" charset="0"/>
                <a:ea typeface="Calibri" pitchFamily="34" charset="-122"/>
                <a:cs typeface="Calibri" pitchFamily="34" charset="-120"/>
              </a:rPr>
              <a:t>Do-minimum</a:t>
            </a:r>
            <a:endParaRPr lang="en-US" sz="1100" dirty="0"/>
          </a:p>
        </p:txBody>
      </p:sp>
      <p:sp>
        <p:nvSpPr>
          <p:cNvPr id="15" name="Text 13"/>
          <p:cNvSpPr/>
          <p:nvPr/>
        </p:nvSpPr>
        <p:spPr>
          <a:xfrm>
            <a:off x="4526280" y="2468880"/>
            <a:ext cx="3154680" cy="1417320"/>
          </a:xfrm>
          <a:prstGeom prst="rect">
            <a:avLst/>
          </a:prstGeom>
          <a:noFill/>
          <a:ln/>
        </p:spPr>
        <p:txBody>
          <a:bodyPr wrap="square" lIns="0" tIns="0" rIns="0" bIns="0" rtlCol="0" anchor="ctr"/>
          <a:lstStyle/>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MVR 1.5m, quick to implement</a:t>
            </a:r>
            <a:endParaRPr lang="en-US" sz="1150" dirty="0"/>
          </a:p>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Planning rate, buffer, bulk orders</a:t>
            </a:r>
            <a:endParaRPr lang="en-US" sz="1150" dirty="0"/>
          </a:p>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Revenue mismatch stays unresolved</a:t>
            </a:r>
            <a:endParaRPr lang="en-US" sz="1150" dirty="0"/>
          </a:p>
        </p:txBody>
      </p:sp>
      <p:sp>
        <p:nvSpPr>
          <p:cNvPr id="16" name="Text 14"/>
          <p:cNvSpPr/>
          <p:nvPr/>
        </p:nvSpPr>
        <p:spPr>
          <a:xfrm>
            <a:off x="4526280" y="3886200"/>
            <a:ext cx="3154680" cy="274320"/>
          </a:xfrm>
          <a:prstGeom prst="rect">
            <a:avLst/>
          </a:prstGeom>
          <a:noFill/>
          <a:ln/>
        </p:spPr>
        <p:txBody>
          <a:bodyPr wrap="square" lIns="0" tIns="0" rIns="0" bIns="0" rtlCol="0" anchor="ctr"/>
          <a:lstStyle/>
          <a:p>
            <a:pPr indent="0" marL="0">
              <a:buNone/>
            </a:pPr>
            <a:r>
              <a:rPr lang="en-US" sz="1050" dirty="0">
                <a:solidFill>
                  <a:srgbClr val="5B6B75"/>
                </a:solidFill>
                <a:latin typeface="Calibri" pitchFamily="34" charset="0"/>
                <a:ea typeface="Calibri" pitchFamily="34" charset="-122"/>
                <a:cs typeface="Calibri" pitchFamily="34" charset="-120"/>
              </a:rPr>
              <a:t>Weighted score</a:t>
            </a:r>
            <a:endParaRPr lang="en-US" sz="1050" dirty="0"/>
          </a:p>
        </p:txBody>
      </p:sp>
      <p:sp>
        <p:nvSpPr>
          <p:cNvPr id="17" name="Text 15"/>
          <p:cNvSpPr/>
          <p:nvPr/>
        </p:nvSpPr>
        <p:spPr>
          <a:xfrm>
            <a:off x="4526280" y="4087368"/>
            <a:ext cx="3154680" cy="502920"/>
          </a:xfrm>
          <a:prstGeom prst="rect">
            <a:avLst/>
          </a:prstGeom>
          <a:noFill/>
          <a:ln/>
        </p:spPr>
        <p:txBody>
          <a:bodyPr wrap="square" lIns="0" tIns="0" rIns="0" bIns="0" rtlCol="0" anchor="ctr"/>
          <a:lstStyle/>
          <a:p>
            <a:pPr indent="0" marL="0">
              <a:buNone/>
            </a:pPr>
            <a:r>
              <a:rPr lang="en-US" sz="3000" b="1" dirty="0">
                <a:solidFill>
                  <a:srgbClr val="1D6A96"/>
                </a:solidFill>
                <a:latin typeface="Cambria" pitchFamily="34" charset="0"/>
                <a:ea typeface="Cambria" pitchFamily="34" charset="-122"/>
                <a:cs typeface="Cambria" pitchFamily="34" charset="-120"/>
              </a:rPr>
              <a:t>3.25</a:t>
            </a:r>
            <a:endParaRPr lang="en-US" sz="3000" dirty="0"/>
          </a:p>
        </p:txBody>
      </p:sp>
      <p:sp>
        <p:nvSpPr>
          <p:cNvPr id="18" name="Shape 16"/>
          <p:cNvSpPr/>
          <p:nvPr/>
        </p:nvSpPr>
        <p:spPr>
          <a:xfrm>
            <a:off x="8092440" y="1600200"/>
            <a:ext cx="3611880" cy="3063240"/>
          </a:xfrm>
          <a:prstGeom prst="roundRect">
            <a:avLst>
              <a:gd name="adj" fmla="val 2388"/>
            </a:avLst>
          </a:prstGeom>
          <a:solidFill>
            <a:srgbClr val="EAF2F7"/>
          </a:solidFill>
          <a:ln w="25400">
            <a:solidFill>
              <a:srgbClr val="0B3C5D"/>
            </a:solidFill>
            <a:prstDash val="solid"/>
          </a:ln>
        </p:spPr>
      </p:sp>
      <p:sp>
        <p:nvSpPr>
          <p:cNvPr id="19" name="Text 17"/>
          <p:cNvSpPr/>
          <p:nvPr/>
        </p:nvSpPr>
        <p:spPr>
          <a:xfrm>
            <a:off x="8321040" y="1764792"/>
            <a:ext cx="3154680" cy="365760"/>
          </a:xfrm>
          <a:prstGeom prst="rect">
            <a:avLst/>
          </a:prstGeom>
          <a:noFill/>
          <a:ln/>
        </p:spPr>
        <p:txBody>
          <a:bodyPr wrap="square" lIns="0" tIns="0" rIns="0" bIns="0"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C. Fen Rakkaa</a:t>
            </a:r>
            <a:endParaRPr lang="en-US" sz="1700" dirty="0"/>
          </a:p>
        </p:txBody>
      </p:sp>
      <p:sp>
        <p:nvSpPr>
          <p:cNvPr id="20" name="Text 18"/>
          <p:cNvSpPr/>
          <p:nvPr/>
        </p:nvSpPr>
        <p:spPr>
          <a:xfrm>
            <a:off x="8321040" y="2130552"/>
            <a:ext cx="3154680" cy="274320"/>
          </a:xfrm>
          <a:prstGeom prst="rect">
            <a:avLst/>
          </a:prstGeom>
          <a:noFill/>
          <a:ln/>
        </p:spPr>
        <p:txBody>
          <a:bodyPr wrap="square" lIns="0" tIns="0" rIns="0" bIns="0" rtlCol="0" anchor="ctr"/>
          <a:lstStyle/>
          <a:p>
            <a:pPr indent="0" marL="0">
              <a:buNone/>
            </a:pPr>
            <a:r>
              <a:rPr lang="en-US" sz="1100" i="1" dirty="0">
                <a:solidFill>
                  <a:srgbClr val="5B6B75"/>
                </a:solidFill>
                <a:latin typeface="Calibri" pitchFamily="34" charset="0"/>
                <a:ea typeface="Calibri" pitchFamily="34" charset="-122"/>
                <a:cs typeface="Calibri" pitchFamily="34" charset="-120"/>
              </a:rPr>
              <a:t>Integrated. Recommended</a:t>
            </a:r>
            <a:endParaRPr lang="en-US" sz="1100" dirty="0"/>
          </a:p>
        </p:txBody>
      </p:sp>
      <p:sp>
        <p:nvSpPr>
          <p:cNvPr id="21" name="Text 19"/>
          <p:cNvSpPr/>
          <p:nvPr/>
        </p:nvSpPr>
        <p:spPr>
          <a:xfrm>
            <a:off x="8321040" y="2468880"/>
            <a:ext cx="3154680" cy="1417320"/>
          </a:xfrm>
          <a:prstGeom prst="rect">
            <a:avLst/>
          </a:prstGeom>
          <a:noFill/>
          <a:ln/>
        </p:spPr>
        <p:txBody>
          <a:bodyPr wrap="square" lIns="0" tIns="0" rIns="0" bIns="0" rtlCol="0" anchor="ctr"/>
          <a:lstStyle/>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MVR 4.5m, 12 months, 2 gates</a:t>
            </a:r>
            <a:endParaRPr lang="en-US" sz="1150" dirty="0"/>
          </a:p>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Six workstreams: revenue, treasury, procurement, contracts, governance</a:t>
            </a:r>
            <a:endParaRPr lang="en-US" sz="1150" dirty="0"/>
          </a:p>
          <a:p>
            <a:pPr marL="127000" indent="-127000">
              <a:spcAft>
                <a:spcPts val="600"/>
              </a:spcAft>
              <a:buSzPct val="100000"/>
              <a:buChar char="•"/>
            </a:pPr>
            <a:r>
              <a:rPr lang="en-US" sz="1150" dirty="0">
                <a:solidFill>
                  <a:srgbClr val="1A2A33"/>
                </a:solidFill>
                <a:latin typeface="Calibri" pitchFamily="34" charset="0"/>
                <a:ea typeface="Calibri" pitchFamily="34" charset="-122"/>
                <a:cs typeface="Calibri" pitchFamily="34" charset="-120"/>
              </a:rPr>
              <a:t>Only option resolving every root cause</a:t>
            </a:r>
            <a:endParaRPr lang="en-US" sz="1150" dirty="0"/>
          </a:p>
        </p:txBody>
      </p:sp>
      <p:sp>
        <p:nvSpPr>
          <p:cNvPr id="22" name="Text 20"/>
          <p:cNvSpPr/>
          <p:nvPr/>
        </p:nvSpPr>
        <p:spPr>
          <a:xfrm>
            <a:off x="8321040" y="3886200"/>
            <a:ext cx="3154680" cy="274320"/>
          </a:xfrm>
          <a:prstGeom prst="rect">
            <a:avLst/>
          </a:prstGeom>
          <a:noFill/>
          <a:ln/>
        </p:spPr>
        <p:txBody>
          <a:bodyPr wrap="square" lIns="0" tIns="0" rIns="0" bIns="0" rtlCol="0" anchor="ctr"/>
          <a:lstStyle/>
          <a:p>
            <a:pPr indent="0" marL="0">
              <a:buNone/>
            </a:pPr>
            <a:r>
              <a:rPr lang="en-US" sz="1050" dirty="0">
                <a:solidFill>
                  <a:srgbClr val="5B6B75"/>
                </a:solidFill>
                <a:latin typeface="Calibri" pitchFamily="34" charset="0"/>
                <a:ea typeface="Calibri" pitchFamily="34" charset="-122"/>
                <a:cs typeface="Calibri" pitchFamily="34" charset="-120"/>
              </a:rPr>
              <a:t>Weighted score</a:t>
            </a:r>
            <a:endParaRPr lang="en-US" sz="1050" dirty="0"/>
          </a:p>
        </p:txBody>
      </p:sp>
      <p:sp>
        <p:nvSpPr>
          <p:cNvPr id="23" name="Text 21"/>
          <p:cNvSpPr/>
          <p:nvPr/>
        </p:nvSpPr>
        <p:spPr>
          <a:xfrm>
            <a:off x="8321040" y="4087368"/>
            <a:ext cx="3154680" cy="50292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4.30</a:t>
            </a:r>
            <a:endParaRPr lang="en-US" sz="3000" dirty="0"/>
          </a:p>
        </p:txBody>
      </p:sp>
      <p:sp>
        <p:nvSpPr>
          <p:cNvPr id="24" name="Text 22"/>
          <p:cNvSpPr/>
          <p:nvPr/>
        </p:nvSpPr>
        <p:spPr>
          <a:xfrm>
            <a:off x="502920" y="4937760"/>
            <a:ext cx="11155680" cy="685800"/>
          </a:xfrm>
          <a:prstGeom prst="rect">
            <a:avLst/>
          </a:prstGeom>
          <a:noFill/>
          <a:ln/>
        </p:spPr>
        <p:txBody>
          <a:bodyPr wrap="square" lIns="0" tIns="0" rIns="0" bIns="0" rtlCol="0" anchor="ctr"/>
          <a:lstStyle/>
          <a:p>
            <a:pPr indent="0" marL="0">
              <a:buNone/>
            </a:pPr>
            <a:r>
              <a:rPr lang="en-US" sz="1600" b="1" dirty="0">
                <a:solidFill>
                  <a:srgbClr val="0B3C5D"/>
                </a:solidFill>
                <a:latin typeface="Calibri" pitchFamily="34" charset="0"/>
                <a:ea typeface="Calibri" pitchFamily="34" charset="-122"/>
                <a:cs typeface="Calibri" pitchFamily="34" charset="-120"/>
              </a:rPr>
              <a:t>Sensitivity on the scoring: </a:t>
            </a:r>
            <a:pPr indent="0" marL="0">
              <a:buNone/>
            </a:pPr>
            <a:r>
              <a:rPr lang="en-US" sz="1600" dirty="0">
                <a:solidFill>
                  <a:srgbClr val="1A2A33"/>
                </a:solidFill>
                <a:latin typeface="Calibri" pitchFamily="34" charset="0"/>
                <a:ea typeface="Calibri" pitchFamily="34" charset="-122"/>
                <a:cs typeface="Calibri" pitchFamily="34" charset="-120"/>
              </a:rPr>
              <a:t>doubling the cost weight to 30% and cutting strategic fit to 5% still ranks C first (4.00 vs 3.40 and 3.05). The outcome does not depend on the initial weightage.</a:t>
            </a:r>
            <a:endParaRPr lang="en-US" sz="1600" dirty="0"/>
          </a:p>
        </p:txBody>
      </p:sp>
      <p:sp>
        <p:nvSpPr>
          <p:cNvPr id="25" name="Text 23"/>
          <p:cNvSpPr/>
          <p:nvPr/>
        </p:nvSpPr>
        <p:spPr>
          <a:xfrm>
            <a:off x="502920" y="5669280"/>
            <a:ext cx="11155680" cy="365760"/>
          </a:xfrm>
          <a:prstGeom prst="rect">
            <a:avLst/>
          </a:prstGeom>
          <a:noFill/>
          <a:ln/>
        </p:spPr>
        <p:txBody>
          <a:bodyPr wrap="square" lIns="0" tIns="0" rIns="0" bIns="0" rtlCol="0" anchor="ctr"/>
          <a:lstStyle/>
          <a:p>
            <a:pPr indent="0" marL="0">
              <a:buNone/>
            </a:pPr>
            <a:r>
              <a:rPr lang="en-US" sz="1400" i="1" dirty="0">
                <a:solidFill>
                  <a:srgbClr val="5B6B75"/>
                </a:solidFill>
                <a:latin typeface="Calibri" pitchFamily="34" charset="0"/>
                <a:ea typeface="Calibri" pitchFamily="34" charset="-122"/>
                <a:cs typeface="Calibri" pitchFamily="34" charset="-120"/>
              </a:rPr>
              <a:t>Option B is retained as the priced fallback if Gate 2 benefits fall short.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68580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The value: pays back in Year 1, robust to failure</a:t>
            </a:r>
            <a:endParaRPr lang="en-US" sz="3200" dirty="0"/>
          </a:p>
        </p:txBody>
      </p:sp>
      <p:sp>
        <p:nvSpPr>
          <p:cNvPr id="3" name="Text 1"/>
          <p:cNvSpPr/>
          <p:nvPr/>
        </p:nvSpPr>
        <p:spPr>
          <a:xfrm>
            <a:off x="502920" y="987552"/>
            <a:ext cx="11155680" cy="365760"/>
          </a:xfrm>
          <a:prstGeom prst="rect">
            <a:avLst/>
          </a:prstGeom>
          <a:noFill/>
          <a:ln/>
        </p:spPr>
        <p:txBody>
          <a:bodyPr wrap="square" lIns="0" tIns="0" rIns="0" bIns="0" rtlCol="0" anchor="ctr"/>
          <a:lstStyle/>
          <a:p>
            <a:pPr indent="0" marL="0">
              <a:buNone/>
            </a:pPr>
            <a:r>
              <a:rPr lang="en-US" sz="1500" dirty="0">
                <a:solidFill>
                  <a:srgbClr val="5B6B75"/>
                </a:solidFill>
                <a:latin typeface="Calibri" pitchFamily="34" charset="0"/>
                <a:ea typeface="Calibri" pitchFamily="34" charset="-122"/>
                <a:cs typeface="Calibri" pitchFamily="34" charset="-120"/>
              </a:rPr>
              <a:t>Three-year DCF at 12%; benefits ramp 15% / 35% / 45% of the MVR 55m exposure (Appendix A)</a:t>
            </a:r>
            <a:endParaRPr lang="en-US" sz="150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PTMT9002 | Project Fen Rakkaa | Hussain Shaany S2610358</a:t>
            </a:r>
            <a:endParaRPr lang="en-US" sz="900" dirty="0"/>
          </a:p>
        </p:txBody>
      </p:sp>
      <p:sp>
        <p:nvSpPr>
          <p:cNvPr id="5" name="Text 3"/>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02920" y="1600200"/>
            <a:ext cx="2697480" cy="1554480"/>
          </a:xfrm>
          <a:prstGeom prst="roundRect">
            <a:avLst>
              <a:gd name="adj" fmla="val 4706"/>
            </a:avLst>
          </a:prstGeom>
          <a:solidFill>
            <a:srgbClr val="EAF2F7"/>
          </a:solidFill>
          <a:ln/>
        </p:spPr>
      </p:sp>
      <p:sp>
        <p:nvSpPr>
          <p:cNvPr id="7" name="Text 5"/>
          <p:cNvSpPr/>
          <p:nvPr/>
        </p:nvSpPr>
        <p:spPr>
          <a:xfrm>
            <a:off x="685800" y="1737360"/>
            <a:ext cx="2331720" cy="685800"/>
          </a:xfrm>
          <a:prstGeom prst="rect">
            <a:avLst/>
          </a:prstGeom>
          <a:noFill/>
          <a:ln/>
        </p:spPr>
        <p:txBody>
          <a:bodyPr wrap="square" lIns="0" tIns="0" rIns="0" bIns="0" rtlCol="0" anchor="ctr"/>
          <a:lstStyle/>
          <a:p>
            <a:pPr indent="0" marL="0">
              <a:buNone/>
            </a:pPr>
            <a:r>
              <a:rPr lang="en-US" sz="3400" b="1" dirty="0">
                <a:solidFill>
                  <a:srgbClr val="2E7D5B"/>
                </a:solidFill>
                <a:latin typeface="Cambria" pitchFamily="34" charset="0"/>
                <a:ea typeface="Cambria" pitchFamily="34" charset="-122"/>
                <a:cs typeface="Cambria" pitchFamily="34" charset="-120"/>
              </a:rPr>
              <a:t>33.4m</a:t>
            </a:r>
            <a:endParaRPr lang="en-US" sz="3400" dirty="0"/>
          </a:p>
        </p:txBody>
      </p:sp>
      <p:sp>
        <p:nvSpPr>
          <p:cNvPr id="8" name="Text 6"/>
          <p:cNvSpPr/>
          <p:nvPr/>
        </p:nvSpPr>
        <p:spPr>
          <a:xfrm>
            <a:off x="685800" y="2468880"/>
            <a:ext cx="2331720" cy="548640"/>
          </a:xfrm>
          <a:prstGeom prst="rect">
            <a:avLst/>
          </a:prstGeom>
          <a:noFill/>
          <a:ln/>
        </p:spPr>
        <p:txBody>
          <a:bodyPr wrap="square" lIns="0" tIns="0" rIns="0" bIns="0" rtlCol="0" anchor="ctr"/>
          <a:lstStyle/>
          <a:p>
            <a:pPr indent="0" marL="0">
              <a:buNone/>
            </a:pPr>
            <a:r>
              <a:rPr lang="en-US" sz="1200" dirty="0">
                <a:solidFill>
                  <a:srgbClr val="1A2A33"/>
                </a:solidFill>
                <a:latin typeface="Calibri" pitchFamily="34" charset="0"/>
                <a:ea typeface="Calibri" pitchFamily="34" charset="-122"/>
                <a:cs typeface="Calibri" pitchFamily="34" charset="-120"/>
              </a:rPr>
              <a:t>3-year NPV (MVR)</a:t>
            </a:r>
            <a:endParaRPr lang="en-US" sz="1200" dirty="0"/>
          </a:p>
        </p:txBody>
      </p:sp>
      <p:sp>
        <p:nvSpPr>
          <p:cNvPr id="9" name="Shape 7"/>
          <p:cNvSpPr/>
          <p:nvPr/>
        </p:nvSpPr>
        <p:spPr>
          <a:xfrm>
            <a:off x="3355848" y="1600200"/>
            <a:ext cx="2697480" cy="1554480"/>
          </a:xfrm>
          <a:prstGeom prst="roundRect">
            <a:avLst>
              <a:gd name="adj" fmla="val 4706"/>
            </a:avLst>
          </a:prstGeom>
          <a:solidFill>
            <a:srgbClr val="EAF2F7"/>
          </a:solidFill>
          <a:ln/>
        </p:spPr>
      </p:sp>
      <p:sp>
        <p:nvSpPr>
          <p:cNvPr id="10" name="Text 8"/>
          <p:cNvSpPr/>
          <p:nvPr/>
        </p:nvSpPr>
        <p:spPr>
          <a:xfrm>
            <a:off x="3538728" y="1737360"/>
            <a:ext cx="2331720" cy="685800"/>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5.8</a:t>
            </a:r>
            <a:endParaRPr lang="en-US" sz="3400" dirty="0"/>
          </a:p>
        </p:txBody>
      </p:sp>
      <p:sp>
        <p:nvSpPr>
          <p:cNvPr id="11" name="Text 9"/>
          <p:cNvSpPr/>
          <p:nvPr/>
        </p:nvSpPr>
        <p:spPr>
          <a:xfrm>
            <a:off x="3538728" y="2468880"/>
            <a:ext cx="2331720" cy="548640"/>
          </a:xfrm>
          <a:prstGeom prst="rect">
            <a:avLst/>
          </a:prstGeom>
          <a:noFill/>
          <a:ln/>
        </p:spPr>
        <p:txBody>
          <a:bodyPr wrap="square" lIns="0" tIns="0" rIns="0" bIns="0" rtlCol="0" anchor="ctr"/>
          <a:lstStyle/>
          <a:p>
            <a:pPr indent="0" marL="0">
              <a:buNone/>
            </a:pPr>
            <a:r>
              <a:rPr lang="en-US" sz="1200" dirty="0">
                <a:solidFill>
                  <a:srgbClr val="1A2A33"/>
                </a:solidFill>
                <a:latin typeface="Calibri" pitchFamily="34" charset="0"/>
                <a:ea typeface="Calibri" pitchFamily="34" charset="-122"/>
                <a:cs typeface="Calibri" pitchFamily="34" charset="-120"/>
              </a:rPr>
              <a:t>Benefit-cost ratio</a:t>
            </a:r>
            <a:endParaRPr lang="en-US" sz="1200" dirty="0"/>
          </a:p>
        </p:txBody>
      </p:sp>
      <p:sp>
        <p:nvSpPr>
          <p:cNvPr id="12" name="Shape 10"/>
          <p:cNvSpPr/>
          <p:nvPr/>
        </p:nvSpPr>
        <p:spPr>
          <a:xfrm>
            <a:off x="6208776" y="1600200"/>
            <a:ext cx="2697480" cy="1554480"/>
          </a:xfrm>
          <a:prstGeom prst="roundRect">
            <a:avLst>
              <a:gd name="adj" fmla="val 4706"/>
            </a:avLst>
          </a:prstGeom>
          <a:solidFill>
            <a:srgbClr val="EAF2F7"/>
          </a:solidFill>
          <a:ln/>
        </p:spPr>
      </p:sp>
      <p:sp>
        <p:nvSpPr>
          <p:cNvPr id="13" name="Text 11"/>
          <p:cNvSpPr/>
          <p:nvPr/>
        </p:nvSpPr>
        <p:spPr>
          <a:xfrm>
            <a:off x="6391656" y="1737360"/>
            <a:ext cx="2331720" cy="685800"/>
          </a:xfrm>
          <a:prstGeom prst="rect">
            <a:avLst/>
          </a:prstGeom>
          <a:noFill/>
          <a:ln/>
        </p:spPr>
        <p:txBody>
          <a:bodyPr wrap="square" lIns="0" tIns="0" rIns="0" bIns="0" rtlCol="0" anchor="ctr"/>
          <a:lstStyle/>
          <a:p>
            <a:pPr indent="0" marL="0">
              <a:buNone/>
            </a:pPr>
            <a:r>
              <a:rPr lang="en-US" sz="3400" b="1" dirty="0">
                <a:solidFill>
                  <a:srgbClr val="0B3C5D"/>
                </a:solidFill>
                <a:latin typeface="Cambria" pitchFamily="34" charset="0"/>
                <a:ea typeface="Cambria" pitchFamily="34" charset="-122"/>
                <a:cs typeface="Cambria" pitchFamily="34" charset="-120"/>
              </a:rPr>
              <a:t>Year 1</a:t>
            </a:r>
            <a:endParaRPr lang="en-US" sz="3400" dirty="0"/>
          </a:p>
        </p:txBody>
      </p:sp>
      <p:sp>
        <p:nvSpPr>
          <p:cNvPr id="14" name="Text 12"/>
          <p:cNvSpPr/>
          <p:nvPr/>
        </p:nvSpPr>
        <p:spPr>
          <a:xfrm>
            <a:off x="6391656" y="2468880"/>
            <a:ext cx="2331720" cy="548640"/>
          </a:xfrm>
          <a:prstGeom prst="rect">
            <a:avLst/>
          </a:prstGeom>
          <a:noFill/>
          <a:ln/>
        </p:spPr>
        <p:txBody>
          <a:bodyPr wrap="square" lIns="0" tIns="0" rIns="0" bIns="0" rtlCol="0" anchor="ctr"/>
          <a:lstStyle/>
          <a:p>
            <a:pPr indent="0" marL="0">
              <a:buNone/>
            </a:pPr>
            <a:r>
              <a:rPr lang="en-US" sz="1200" dirty="0">
                <a:solidFill>
                  <a:srgbClr val="1A2A33"/>
                </a:solidFill>
                <a:latin typeface="Calibri" pitchFamily="34" charset="0"/>
                <a:ea typeface="Calibri" pitchFamily="34" charset="-122"/>
                <a:cs typeface="Calibri" pitchFamily="34" charset="-120"/>
              </a:rPr>
              <a:t>Payback, net cash positive</a:t>
            </a:r>
            <a:endParaRPr lang="en-US" sz="1200" dirty="0"/>
          </a:p>
        </p:txBody>
      </p:sp>
      <p:sp>
        <p:nvSpPr>
          <p:cNvPr id="15" name="Shape 13"/>
          <p:cNvSpPr/>
          <p:nvPr/>
        </p:nvSpPr>
        <p:spPr>
          <a:xfrm>
            <a:off x="9061704" y="1600200"/>
            <a:ext cx="2697480" cy="1554480"/>
          </a:xfrm>
          <a:prstGeom prst="roundRect">
            <a:avLst>
              <a:gd name="adj" fmla="val 4706"/>
            </a:avLst>
          </a:prstGeom>
          <a:solidFill>
            <a:srgbClr val="EAF2F7"/>
          </a:solidFill>
          <a:ln/>
        </p:spPr>
      </p:sp>
      <p:sp>
        <p:nvSpPr>
          <p:cNvPr id="16" name="Text 14"/>
          <p:cNvSpPr/>
          <p:nvPr/>
        </p:nvSpPr>
        <p:spPr>
          <a:xfrm>
            <a:off x="9244584" y="1737360"/>
            <a:ext cx="2331720" cy="685800"/>
          </a:xfrm>
          <a:prstGeom prst="rect">
            <a:avLst/>
          </a:prstGeom>
          <a:noFill/>
          <a:ln/>
        </p:spPr>
        <p:txBody>
          <a:bodyPr wrap="square" lIns="0" tIns="0" rIns="0" bIns="0" rtlCol="0" anchor="ctr"/>
          <a:lstStyle/>
          <a:p>
            <a:pPr indent="0" marL="0">
              <a:buNone/>
            </a:pPr>
            <a:r>
              <a:rPr lang="en-US" sz="3400" b="1" dirty="0">
                <a:solidFill>
                  <a:srgbClr val="D9A521"/>
                </a:solidFill>
                <a:latin typeface="Cambria" pitchFamily="34" charset="0"/>
                <a:ea typeface="Cambria" pitchFamily="34" charset="-122"/>
                <a:cs typeface="Cambria" pitchFamily="34" charset="-120"/>
              </a:rPr>
              <a:t>17%</a:t>
            </a:r>
            <a:endParaRPr lang="en-US" sz="3400" dirty="0"/>
          </a:p>
        </p:txBody>
      </p:sp>
      <p:sp>
        <p:nvSpPr>
          <p:cNvPr id="17" name="Text 15"/>
          <p:cNvSpPr/>
          <p:nvPr/>
        </p:nvSpPr>
        <p:spPr>
          <a:xfrm>
            <a:off x="9244584" y="2468880"/>
            <a:ext cx="2331720" cy="548640"/>
          </a:xfrm>
          <a:prstGeom prst="rect">
            <a:avLst/>
          </a:prstGeom>
          <a:noFill/>
          <a:ln/>
        </p:spPr>
        <p:txBody>
          <a:bodyPr wrap="square" lIns="0" tIns="0" rIns="0" bIns="0" rtlCol="0" anchor="ctr"/>
          <a:lstStyle/>
          <a:p>
            <a:pPr indent="0" marL="0">
              <a:buNone/>
            </a:pPr>
            <a:r>
              <a:rPr lang="en-US" sz="1200" dirty="0">
                <a:solidFill>
                  <a:srgbClr val="1A2A33"/>
                </a:solidFill>
                <a:latin typeface="Calibri" pitchFamily="34" charset="0"/>
                <a:ea typeface="Calibri" pitchFamily="34" charset="-122"/>
                <a:cs typeface="Calibri" pitchFamily="34" charset="-120"/>
              </a:rPr>
              <a:t>Benefit realization needed to break even</a:t>
            </a:r>
            <a:endParaRPr lang="en-US" sz="1200" dirty="0"/>
          </a:p>
        </p:txBody>
      </p:sp>
      <p:graphicFrame>
        <p:nvGraphicFramePr>
          <p:cNvPr id="18" name="Chart 0" descr=""/>
          <p:cNvGraphicFramePr/>
          <p:nvPr/>
        </p:nvGraphicFramePr>
        <p:xfrm>
          <a:off x="502920" y="3429000"/>
          <a:ext cx="6949440" cy="274320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7772400" y="3429000"/>
            <a:ext cx="3886200" cy="2743200"/>
          </a:xfrm>
          <a:prstGeom prst="roundRect">
            <a:avLst>
              <a:gd name="adj" fmla="val 2667"/>
            </a:avLst>
          </a:prstGeom>
          <a:solidFill>
            <a:srgbClr val="0B3C5D"/>
          </a:solidFill>
          <a:ln/>
        </p:spPr>
      </p:sp>
      <p:sp>
        <p:nvSpPr>
          <p:cNvPr id="20" name="Text 17"/>
          <p:cNvSpPr/>
          <p:nvPr/>
        </p:nvSpPr>
        <p:spPr>
          <a:xfrm>
            <a:off x="8001000" y="3611880"/>
            <a:ext cx="3429000" cy="320040"/>
          </a:xfrm>
          <a:prstGeom prst="rect">
            <a:avLst/>
          </a:prstGeom>
          <a:noFill/>
          <a:ln/>
        </p:spPr>
        <p:txBody>
          <a:bodyPr wrap="square" lIns="0" tIns="0" rIns="0" bIns="0" rtlCol="0" anchor="ctr"/>
          <a:lstStyle/>
          <a:p>
            <a:pPr indent="0" marL="0">
              <a:buNone/>
            </a:pPr>
            <a:r>
              <a:rPr lang="en-US" sz="1400" b="1" dirty="0">
                <a:solidFill>
                  <a:srgbClr val="9FC2D8"/>
                </a:solidFill>
                <a:latin typeface="Calibri" pitchFamily="34" charset="0"/>
                <a:ea typeface="Calibri" pitchFamily="34" charset="-122"/>
                <a:cs typeface="Calibri" pitchFamily="34" charset="-120"/>
              </a:rPr>
              <a:t>Why the case is honest</a:t>
            </a:r>
            <a:endParaRPr lang="en-US" sz="1400" dirty="0"/>
          </a:p>
        </p:txBody>
      </p:sp>
      <p:sp>
        <p:nvSpPr>
          <p:cNvPr id="21" name="Text 18"/>
          <p:cNvSpPr/>
          <p:nvPr/>
        </p:nvSpPr>
        <p:spPr>
          <a:xfrm>
            <a:off x="8001000" y="3977640"/>
            <a:ext cx="3474720" cy="2103120"/>
          </a:xfrm>
          <a:prstGeom prst="rect">
            <a:avLst/>
          </a:prstGeom>
          <a:noFill/>
          <a:ln/>
        </p:spPr>
        <p:txBody>
          <a:bodyPr wrap="square" lIns="0" tIns="0" rIns="0" bIns="0" rtlCol="0" anchor="ctr"/>
          <a:lstStyle/>
          <a:p>
            <a:pPr indent="0" marL="0">
              <a:lnSpc>
                <a:spcPct val="105000"/>
              </a:lnSpc>
              <a:buNone/>
            </a:pPr>
            <a:r>
              <a:rPr lang="en-US" sz="1150" b="1" dirty="0">
                <a:solidFill>
                  <a:srgbClr val="D9A521"/>
                </a:solidFill>
                <a:latin typeface="Calibri" pitchFamily="34" charset="0"/>
                <a:ea typeface="Calibri" pitchFamily="34" charset="-122"/>
                <a:cs typeface="Calibri" pitchFamily="34" charset="-120"/>
              </a:rPr>
              <a:t>Assumption, not fact: </a:t>
            </a:r>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benefits rest on the assumed dollar-linked cost share, not published segment data.</a:t>
            </a:r>
            <a:pPr indent="0" marL="0">
              <a:lnSpc>
                <a:spcPct val="105000"/>
              </a:lnSpc>
              <a:buNone/>
            </a:pPr>
            <a:endParaRPr lang="en-US" sz="1150" dirty="0"/>
          </a:p>
          <a:p>
            <a:pPr indent="0" marL="0">
              <a:lnSpc>
                <a:spcPct val="105000"/>
              </a:lnSpc>
              <a:buNone/>
            </a:pPr>
            <a:r>
              <a:rPr lang="en-US" sz="1150" b="1" dirty="0">
                <a:solidFill>
                  <a:srgbClr val="D9A521"/>
                </a:solidFill>
                <a:latin typeface="Calibri" pitchFamily="34" charset="0"/>
                <a:ea typeface="Calibri" pitchFamily="34" charset="-122"/>
                <a:cs typeface="Calibri" pitchFamily="34" charset="-120"/>
              </a:rPr>
              <a:t>Control: </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the exposure register replaces the estimate with measured values; the project stays positive at 40% realization even with running costs overrun by two-thirds.</a:t>
            </a:r>
            <a:pPr indent="0" marL="0">
              <a:lnSpc>
                <a:spcPct val="105000"/>
              </a:lnSpc>
              <a:buNone/>
            </a:pPr>
            <a:endParaRPr lang="en-US" sz="1150" dirty="0"/>
          </a:p>
          <a:p>
            <a:pPr indent="0" marL="0">
              <a:lnSpc>
                <a:spcPct val="105000"/>
              </a:lnSpc>
              <a:buNone/>
            </a:pPr>
            <a:r>
              <a:rPr lang="en-US" sz="1150" b="1" dirty="0">
                <a:solidFill>
                  <a:srgbClr val="D9A521"/>
                </a:solidFill>
                <a:latin typeface="Calibri" pitchFamily="34" charset="0"/>
                <a:ea typeface="Calibri" pitchFamily="34" charset="-122"/>
                <a:cs typeface="Calibri" pitchFamily="34" charset="-120"/>
              </a:rPr>
              <a:t>No IRR quoted: </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at this cost scale it would imply false precision.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68580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Delivery: twelve months, two gates, a priced fallback</a:t>
            </a:r>
            <a:endParaRPr lang="en-US" sz="3200" dirty="0"/>
          </a:p>
        </p:txBody>
      </p:sp>
      <p:sp>
        <p:nvSpPr>
          <p:cNvPr id="3" name="Text 1"/>
          <p:cNvSpPr/>
          <p:nvPr/>
        </p:nvSpPr>
        <p:spPr>
          <a:xfrm>
            <a:off x="502920" y="987552"/>
            <a:ext cx="11155680" cy="365760"/>
          </a:xfrm>
          <a:prstGeom prst="rect">
            <a:avLst/>
          </a:prstGeom>
          <a:noFill/>
          <a:ln/>
        </p:spPr>
        <p:txBody>
          <a:bodyPr wrap="square" lIns="0" tIns="0" rIns="0" bIns="0" rtlCol="0" anchor="ctr"/>
          <a:lstStyle/>
          <a:p>
            <a:pPr indent="0" marL="0">
              <a:buNone/>
            </a:pPr>
            <a:r>
              <a:rPr lang="en-US" sz="1500" dirty="0">
                <a:solidFill>
                  <a:srgbClr val="5B6B75"/>
                </a:solidFill>
                <a:latin typeface="Calibri" pitchFamily="34" charset="0"/>
                <a:ea typeface="Calibri" pitchFamily="34" charset="-122"/>
                <a:cs typeface="Calibri" pitchFamily="34" charset="-120"/>
              </a:rPr>
              <a:t>Logframe assigns every result an owner; Gate 2 failure triggers de-scope to Option B</a:t>
            </a:r>
            <a:endParaRPr lang="en-US" sz="150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PTMT9002 | Project Fen Rakkaa | Hussain Shaany S2610358</a:t>
            </a:r>
            <a:endParaRPr lang="en-US" sz="900" dirty="0"/>
          </a:p>
        </p:txBody>
      </p:sp>
      <p:sp>
        <p:nvSpPr>
          <p:cNvPr id="5" name="Text 3"/>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1188720" y="2880360"/>
            <a:ext cx="10058400" cy="0"/>
          </a:xfrm>
          <a:prstGeom prst="line">
            <a:avLst/>
          </a:prstGeom>
          <a:noFill/>
          <a:ln w="31750">
            <a:solidFill>
              <a:srgbClr val="1D6A96"/>
            </a:solidFill>
            <a:prstDash val="solid"/>
          </a:ln>
        </p:spPr>
      </p:sp>
      <p:sp>
        <p:nvSpPr>
          <p:cNvPr id="7" name="Shape 5"/>
          <p:cNvSpPr/>
          <p:nvPr/>
        </p:nvSpPr>
        <p:spPr>
          <a:xfrm>
            <a:off x="1188720" y="2816352"/>
            <a:ext cx="0" cy="128016"/>
          </a:xfrm>
          <a:prstGeom prst="line">
            <a:avLst/>
          </a:prstGeom>
          <a:noFill/>
          <a:ln w="19050">
            <a:solidFill>
              <a:srgbClr val="1D6A96"/>
            </a:solidFill>
            <a:prstDash val="solid"/>
          </a:ln>
        </p:spPr>
      </p:sp>
      <p:sp>
        <p:nvSpPr>
          <p:cNvPr id="8" name="Text 6"/>
          <p:cNvSpPr/>
          <p:nvPr/>
        </p:nvSpPr>
        <p:spPr>
          <a:xfrm>
            <a:off x="548640" y="2990088"/>
            <a:ext cx="1280160" cy="256032"/>
          </a:xfrm>
          <a:prstGeom prst="rect">
            <a:avLst/>
          </a:prstGeom>
          <a:noFill/>
          <a:ln/>
        </p:spPr>
        <p:txBody>
          <a:bodyPr wrap="square" lIns="0" tIns="0" rIns="0" bIns="0" rtlCol="0" anchor="ctr"/>
          <a:lstStyle/>
          <a:p>
            <a:pPr algn="ctr" indent="0" marL="0">
              <a:buNone/>
            </a:pPr>
            <a:r>
              <a:rPr lang="en-US" sz="1000" dirty="0">
                <a:solidFill>
                  <a:srgbClr val="5B6B75"/>
                </a:solidFill>
                <a:latin typeface="Calibri" pitchFamily="34" charset="0"/>
                <a:ea typeface="Calibri" pitchFamily="34" charset="-122"/>
                <a:cs typeface="Calibri" pitchFamily="34" charset="-120"/>
              </a:rPr>
              <a:t>Month 0</a:t>
            </a:r>
            <a:endParaRPr lang="en-US" sz="1000" dirty="0"/>
          </a:p>
        </p:txBody>
      </p:sp>
      <p:sp>
        <p:nvSpPr>
          <p:cNvPr id="9" name="Shape 7"/>
          <p:cNvSpPr/>
          <p:nvPr/>
        </p:nvSpPr>
        <p:spPr>
          <a:xfrm>
            <a:off x="3703320" y="2816352"/>
            <a:ext cx="0" cy="128016"/>
          </a:xfrm>
          <a:prstGeom prst="line">
            <a:avLst/>
          </a:prstGeom>
          <a:noFill/>
          <a:ln w="19050">
            <a:solidFill>
              <a:srgbClr val="1D6A96"/>
            </a:solidFill>
            <a:prstDash val="solid"/>
          </a:ln>
        </p:spPr>
      </p:sp>
      <p:sp>
        <p:nvSpPr>
          <p:cNvPr id="10" name="Text 8"/>
          <p:cNvSpPr/>
          <p:nvPr/>
        </p:nvSpPr>
        <p:spPr>
          <a:xfrm>
            <a:off x="3063240" y="2990088"/>
            <a:ext cx="1280160" cy="256032"/>
          </a:xfrm>
          <a:prstGeom prst="rect">
            <a:avLst/>
          </a:prstGeom>
          <a:noFill/>
          <a:ln/>
        </p:spPr>
        <p:txBody>
          <a:bodyPr wrap="square" lIns="0" tIns="0" rIns="0" bIns="0" rtlCol="0" anchor="ctr"/>
          <a:lstStyle/>
          <a:p>
            <a:pPr algn="ctr" indent="0" marL="0">
              <a:buNone/>
            </a:pPr>
            <a:r>
              <a:rPr lang="en-US" sz="1000" dirty="0">
                <a:solidFill>
                  <a:srgbClr val="5B6B75"/>
                </a:solidFill>
                <a:latin typeface="Calibri" pitchFamily="34" charset="0"/>
                <a:ea typeface="Calibri" pitchFamily="34" charset="-122"/>
                <a:cs typeface="Calibri" pitchFamily="34" charset="-120"/>
              </a:rPr>
              <a:t>Month 3</a:t>
            </a:r>
            <a:endParaRPr lang="en-US" sz="1000" dirty="0"/>
          </a:p>
        </p:txBody>
      </p:sp>
      <p:sp>
        <p:nvSpPr>
          <p:cNvPr id="11" name="Shape 9"/>
          <p:cNvSpPr/>
          <p:nvPr/>
        </p:nvSpPr>
        <p:spPr>
          <a:xfrm>
            <a:off x="6217920" y="2816352"/>
            <a:ext cx="0" cy="128016"/>
          </a:xfrm>
          <a:prstGeom prst="line">
            <a:avLst/>
          </a:prstGeom>
          <a:noFill/>
          <a:ln w="19050">
            <a:solidFill>
              <a:srgbClr val="1D6A96"/>
            </a:solidFill>
            <a:prstDash val="solid"/>
          </a:ln>
        </p:spPr>
      </p:sp>
      <p:sp>
        <p:nvSpPr>
          <p:cNvPr id="12" name="Text 10"/>
          <p:cNvSpPr/>
          <p:nvPr/>
        </p:nvSpPr>
        <p:spPr>
          <a:xfrm>
            <a:off x="5577840" y="2990088"/>
            <a:ext cx="1280160" cy="256032"/>
          </a:xfrm>
          <a:prstGeom prst="rect">
            <a:avLst/>
          </a:prstGeom>
          <a:noFill/>
          <a:ln/>
        </p:spPr>
        <p:txBody>
          <a:bodyPr wrap="square" lIns="0" tIns="0" rIns="0" bIns="0" rtlCol="0" anchor="ctr"/>
          <a:lstStyle/>
          <a:p>
            <a:pPr algn="ctr" indent="0" marL="0">
              <a:buNone/>
            </a:pPr>
            <a:r>
              <a:rPr lang="en-US" sz="1000" dirty="0">
                <a:solidFill>
                  <a:srgbClr val="5B6B75"/>
                </a:solidFill>
                <a:latin typeface="Calibri" pitchFamily="34" charset="0"/>
                <a:ea typeface="Calibri" pitchFamily="34" charset="-122"/>
                <a:cs typeface="Calibri" pitchFamily="34" charset="-120"/>
              </a:rPr>
              <a:t>Month 6</a:t>
            </a:r>
            <a:endParaRPr lang="en-US" sz="1000" dirty="0"/>
          </a:p>
        </p:txBody>
      </p:sp>
      <p:sp>
        <p:nvSpPr>
          <p:cNvPr id="13" name="Shape 11"/>
          <p:cNvSpPr/>
          <p:nvPr/>
        </p:nvSpPr>
        <p:spPr>
          <a:xfrm>
            <a:off x="8732520" y="2816352"/>
            <a:ext cx="0" cy="128016"/>
          </a:xfrm>
          <a:prstGeom prst="line">
            <a:avLst/>
          </a:prstGeom>
          <a:noFill/>
          <a:ln w="19050">
            <a:solidFill>
              <a:srgbClr val="1D6A96"/>
            </a:solidFill>
            <a:prstDash val="solid"/>
          </a:ln>
        </p:spPr>
      </p:sp>
      <p:sp>
        <p:nvSpPr>
          <p:cNvPr id="14" name="Text 12"/>
          <p:cNvSpPr/>
          <p:nvPr/>
        </p:nvSpPr>
        <p:spPr>
          <a:xfrm>
            <a:off x="8092440" y="2990088"/>
            <a:ext cx="1280160" cy="256032"/>
          </a:xfrm>
          <a:prstGeom prst="rect">
            <a:avLst/>
          </a:prstGeom>
          <a:noFill/>
          <a:ln/>
        </p:spPr>
        <p:txBody>
          <a:bodyPr wrap="square" lIns="0" tIns="0" rIns="0" bIns="0" rtlCol="0" anchor="ctr"/>
          <a:lstStyle/>
          <a:p>
            <a:pPr algn="ctr" indent="0" marL="0">
              <a:buNone/>
            </a:pPr>
            <a:r>
              <a:rPr lang="en-US" sz="1000" dirty="0">
                <a:solidFill>
                  <a:srgbClr val="5B6B75"/>
                </a:solidFill>
                <a:latin typeface="Calibri" pitchFamily="34" charset="0"/>
                <a:ea typeface="Calibri" pitchFamily="34" charset="-122"/>
                <a:cs typeface="Calibri" pitchFamily="34" charset="-120"/>
              </a:rPr>
              <a:t>Month 9</a:t>
            </a:r>
            <a:endParaRPr lang="en-US" sz="1000" dirty="0"/>
          </a:p>
        </p:txBody>
      </p:sp>
      <p:sp>
        <p:nvSpPr>
          <p:cNvPr id="15" name="Shape 13"/>
          <p:cNvSpPr/>
          <p:nvPr/>
        </p:nvSpPr>
        <p:spPr>
          <a:xfrm>
            <a:off x="11247120" y="2816352"/>
            <a:ext cx="0" cy="128016"/>
          </a:xfrm>
          <a:prstGeom prst="line">
            <a:avLst/>
          </a:prstGeom>
          <a:noFill/>
          <a:ln w="19050">
            <a:solidFill>
              <a:srgbClr val="1D6A96"/>
            </a:solidFill>
            <a:prstDash val="solid"/>
          </a:ln>
        </p:spPr>
      </p:sp>
      <p:sp>
        <p:nvSpPr>
          <p:cNvPr id="16" name="Text 14"/>
          <p:cNvSpPr/>
          <p:nvPr/>
        </p:nvSpPr>
        <p:spPr>
          <a:xfrm>
            <a:off x="10607040" y="2990088"/>
            <a:ext cx="1280160" cy="256032"/>
          </a:xfrm>
          <a:prstGeom prst="rect">
            <a:avLst/>
          </a:prstGeom>
          <a:noFill/>
          <a:ln/>
        </p:spPr>
        <p:txBody>
          <a:bodyPr wrap="square" lIns="0" tIns="0" rIns="0" bIns="0" rtlCol="0" anchor="ctr"/>
          <a:lstStyle/>
          <a:p>
            <a:pPr algn="ctr" indent="0" marL="0">
              <a:buNone/>
            </a:pPr>
            <a:r>
              <a:rPr lang="en-US" sz="1000" dirty="0">
                <a:solidFill>
                  <a:srgbClr val="5B6B75"/>
                </a:solidFill>
                <a:latin typeface="Calibri" pitchFamily="34" charset="0"/>
                <a:ea typeface="Calibri" pitchFamily="34" charset="-122"/>
                <a:cs typeface="Calibri" pitchFamily="34" charset="-120"/>
              </a:rPr>
              <a:t>Month 12</a:t>
            </a:r>
            <a:endParaRPr lang="en-US" sz="1000" dirty="0"/>
          </a:p>
        </p:txBody>
      </p:sp>
      <p:sp>
        <p:nvSpPr>
          <p:cNvPr id="17" name="Shape 15"/>
          <p:cNvSpPr/>
          <p:nvPr/>
        </p:nvSpPr>
        <p:spPr>
          <a:xfrm>
            <a:off x="1257300" y="1463040"/>
            <a:ext cx="2377440" cy="1143000"/>
          </a:xfrm>
          <a:prstGeom prst="roundRect">
            <a:avLst>
              <a:gd name="adj" fmla="val 4800"/>
            </a:avLst>
          </a:prstGeom>
          <a:solidFill>
            <a:srgbClr val="EAF2F7"/>
          </a:solidFill>
          <a:ln/>
        </p:spPr>
      </p:sp>
      <p:sp>
        <p:nvSpPr>
          <p:cNvPr id="18" name="Text 16"/>
          <p:cNvSpPr/>
          <p:nvPr/>
        </p:nvSpPr>
        <p:spPr>
          <a:xfrm>
            <a:off x="1394460" y="1581912"/>
            <a:ext cx="2103120" cy="274320"/>
          </a:xfrm>
          <a:prstGeom prst="rect">
            <a:avLst/>
          </a:prstGeom>
          <a:noFill/>
          <a:ln/>
        </p:spPr>
        <p:txBody>
          <a:bodyPr wrap="square" lIns="0" tIns="0" rIns="0" bIns="0" rtlCol="0" anchor="ctr"/>
          <a:lstStyle/>
          <a:p>
            <a:pPr algn="ctr" indent="0" marL="0">
              <a:buNone/>
            </a:pPr>
            <a:r>
              <a:rPr lang="en-US" sz="1200" b="1" dirty="0">
                <a:solidFill>
                  <a:srgbClr val="0B3C5D"/>
                </a:solidFill>
                <a:latin typeface="Calibri" pitchFamily="34" charset="0"/>
                <a:ea typeface="Calibri" pitchFamily="34" charset="-122"/>
                <a:cs typeface="Calibri" pitchFamily="34" charset="-120"/>
              </a:rPr>
              <a:t>1. Mobilise  Q4 2026</a:t>
            </a:r>
            <a:endParaRPr lang="en-US" sz="1200" dirty="0"/>
          </a:p>
        </p:txBody>
      </p:sp>
      <p:sp>
        <p:nvSpPr>
          <p:cNvPr id="19" name="Text 17"/>
          <p:cNvSpPr/>
          <p:nvPr/>
        </p:nvSpPr>
        <p:spPr>
          <a:xfrm>
            <a:off x="1394460" y="1874520"/>
            <a:ext cx="2103120" cy="685800"/>
          </a:xfrm>
          <a:prstGeom prst="rect">
            <a:avLst/>
          </a:prstGeom>
          <a:noFill/>
          <a:ln/>
        </p:spPr>
        <p:txBody>
          <a:bodyPr wrap="square" lIns="0" tIns="0" rIns="0" bIns="0" rtlCol="0" anchor="ctr"/>
          <a:lstStyle/>
          <a:p>
            <a:pPr algn="ctr" indent="0" marL="0">
              <a:buNone/>
            </a:pPr>
            <a:r>
              <a:rPr lang="en-US" sz="950" dirty="0">
                <a:solidFill>
                  <a:srgbClr val="5B6B75"/>
                </a:solidFill>
                <a:latin typeface="Calibri" pitchFamily="34" charset="0"/>
                <a:ea typeface="Calibri" pitchFamily="34" charset="-122"/>
                <a:cs typeface="Calibri" pitchFamily="34" charset="-120"/>
              </a:rPr>
              <a:t>Steering committee, champions, USD account</a:t>
            </a:r>
            <a:endParaRPr lang="en-US" sz="950" dirty="0"/>
          </a:p>
        </p:txBody>
      </p:sp>
      <p:sp>
        <p:nvSpPr>
          <p:cNvPr id="20" name="Shape 18"/>
          <p:cNvSpPr/>
          <p:nvPr/>
        </p:nvSpPr>
        <p:spPr>
          <a:xfrm>
            <a:off x="3771900" y="1463040"/>
            <a:ext cx="2377440" cy="1143000"/>
          </a:xfrm>
          <a:prstGeom prst="roundRect">
            <a:avLst>
              <a:gd name="adj" fmla="val 4800"/>
            </a:avLst>
          </a:prstGeom>
          <a:solidFill>
            <a:srgbClr val="EAF2F7"/>
          </a:solidFill>
          <a:ln/>
        </p:spPr>
      </p:sp>
      <p:sp>
        <p:nvSpPr>
          <p:cNvPr id="21" name="Text 19"/>
          <p:cNvSpPr/>
          <p:nvPr/>
        </p:nvSpPr>
        <p:spPr>
          <a:xfrm>
            <a:off x="3909060" y="1581912"/>
            <a:ext cx="2103120" cy="274320"/>
          </a:xfrm>
          <a:prstGeom prst="rect">
            <a:avLst/>
          </a:prstGeom>
          <a:noFill/>
          <a:ln/>
        </p:spPr>
        <p:txBody>
          <a:bodyPr wrap="square" lIns="0" tIns="0" rIns="0" bIns="0" rtlCol="0" anchor="ctr"/>
          <a:lstStyle/>
          <a:p>
            <a:pPr algn="ctr" indent="0" marL="0">
              <a:buNone/>
            </a:pPr>
            <a:r>
              <a:rPr lang="en-US" sz="1200" b="1" dirty="0">
                <a:solidFill>
                  <a:srgbClr val="0B3C5D"/>
                </a:solidFill>
                <a:latin typeface="Calibri" pitchFamily="34" charset="0"/>
                <a:ea typeface="Calibri" pitchFamily="34" charset="-122"/>
                <a:cs typeface="Calibri" pitchFamily="34" charset="-120"/>
              </a:rPr>
              <a:t>2. Build  Q1 2027</a:t>
            </a:r>
            <a:endParaRPr lang="en-US" sz="1200" dirty="0"/>
          </a:p>
        </p:txBody>
      </p:sp>
      <p:sp>
        <p:nvSpPr>
          <p:cNvPr id="22" name="Text 20"/>
          <p:cNvSpPr/>
          <p:nvPr/>
        </p:nvSpPr>
        <p:spPr>
          <a:xfrm>
            <a:off x="3909060" y="1874520"/>
            <a:ext cx="2103120" cy="685800"/>
          </a:xfrm>
          <a:prstGeom prst="rect">
            <a:avLst/>
          </a:prstGeom>
          <a:noFill/>
          <a:ln/>
        </p:spPr>
        <p:txBody>
          <a:bodyPr wrap="square" lIns="0" tIns="0" rIns="0" bIns="0" rtlCol="0" anchor="ctr"/>
          <a:lstStyle/>
          <a:p>
            <a:pPr algn="ctr" indent="0" marL="0">
              <a:buNone/>
            </a:pPr>
            <a:r>
              <a:rPr lang="en-US" sz="950" dirty="0">
                <a:solidFill>
                  <a:srgbClr val="5B6B75"/>
                </a:solidFill>
                <a:latin typeface="Calibri" pitchFamily="34" charset="0"/>
                <a:ea typeface="Calibri" pitchFamily="34" charset="-122"/>
                <a:cs typeface="Calibri" pitchFamily="34" charset="-120"/>
              </a:rPr>
              <a:t>Exposure register, dashboard, clause library</a:t>
            </a:r>
            <a:endParaRPr lang="en-US" sz="950" dirty="0"/>
          </a:p>
        </p:txBody>
      </p:sp>
      <p:sp>
        <p:nvSpPr>
          <p:cNvPr id="23" name="Shape 21"/>
          <p:cNvSpPr/>
          <p:nvPr/>
        </p:nvSpPr>
        <p:spPr>
          <a:xfrm>
            <a:off x="6286500" y="1463040"/>
            <a:ext cx="2377440" cy="1143000"/>
          </a:xfrm>
          <a:prstGeom prst="roundRect">
            <a:avLst>
              <a:gd name="adj" fmla="val 4800"/>
            </a:avLst>
          </a:prstGeom>
          <a:solidFill>
            <a:srgbClr val="EAF2F7"/>
          </a:solidFill>
          <a:ln/>
        </p:spPr>
      </p:sp>
      <p:sp>
        <p:nvSpPr>
          <p:cNvPr id="24" name="Text 22"/>
          <p:cNvSpPr/>
          <p:nvPr/>
        </p:nvSpPr>
        <p:spPr>
          <a:xfrm>
            <a:off x="6423660" y="1581912"/>
            <a:ext cx="2103120" cy="274320"/>
          </a:xfrm>
          <a:prstGeom prst="rect">
            <a:avLst/>
          </a:prstGeom>
          <a:noFill/>
          <a:ln/>
        </p:spPr>
        <p:txBody>
          <a:bodyPr wrap="square" lIns="0" tIns="0" rIns="0" bIns="0" rtlCol="0" anchor="ctr"/>
          <a:lstStyle/>
          <a:p>
            <a:pPr algn="ctr" indent="0" marL="0">
              <a:buNone/>
            </a:pPr>
            <a:r>
              <a:rPr lang="en-US" sz="1200" b="1" dirty="0">
                <a:solidFill>
                  <a:srgbClr val="0B3C5D"/>
                </a:solidFill>
                <a:latin typeface="Calibri" pitchFamily="34" charset="0"/>
                <a:ea typeface="Calibri" pitchFamily="34" charset="-122"/>
                <a:cs typeface="Calibri" pitchFamily="34" charset="-120"/>
              </a:rPr>
              <a:t>3. Scale  Q2 2027</a:t>
            </a:r>
            <a:endParaRPr lang="en-US" sz="1200" dirty="0"/>
          </a:p>
        </p:txBody>
      </p:sp>
      <p:sp>
        <p:nvSpPr>
          <p:cNvPr id="25" name="Text 23"/>
          <p:cNvSpPr/>
          <p:nvPr/>
        </p:nvSpPr>
        <p:spPr>
          <a:xfrm>
            <a:off x="6423660" y="1874520"/>
            <a:ext cx="2103120" cy="685800"/>
          </a:xfrm>
          <a:prstGeom prst="rect">
            <a:avLst/>
          </a:prstGeom>
          <a:noFill/>
          <a:ln/>
        </p:spPr>
        <p:txBody>
          <a:bodyPr wrap="square" lIns="0" tIns="0" rIns="0" bIns="0" rtlCol="0" anchor="ctr"/>
          <a:lstStyle/>
          <a:p>
            <a:pPr algn="ctr" indent="0" marL="0">
              <a:buNone/>
            </a:pPr>
            <a:r>
              <a:rPr lang="en-US" sz="950" dirty="0">
                <a:solidFill>
                  <a:srgbClr val="5B6B75"/>
                </a:solidFill>
                <a:latin typeface="Calibri" pitchFamily="34" charset="0"/>
                <a:ea typeface="Calibri" pitchFamily="34" charset="-122"/>
                <a:cs typeface="Calibri" pitchFamily="34" charset="-120"/>
              </a:rPr>
              <a:t>Resort outreach, USD billing, bulk import plan</a:t>
            </a:r>
            <a:endParaRPr lang="en-US" sz="950" dirty="0"/>
          </a:p>
        </p:txBody>
      </p:sp>
      <p:sp>
        <p:nvSpPr>
          <p:cNvPr id="26" name="Shape 24"/>
          <p:cNvSpPr/>
          <p:nvPr/>
        </p:nvSpPr>
        <p:spPr>
          <a:xfrm>
            <a:off x="8801100" y="1463040"/>
            <a:ext cx="2377440" cy="1143000"/>
          </a:xfrm>
          <a:prstGeom prst="roundRect">
            <a:avLst>
              <a:gd name="adj" fmla="val 4800"/>
            </a:avLst>
          </a:prstGeom>
          <a:solidFill>
            <a:srgbClr val="EAF2F7"/>
          </a:solidFill>
          <a:ln/>
        </p:spPr>
      </p:sp>
      <p:sp>
        <p:nvSpPr>
          <p:cNvPr id="27" name="Text 25"/>
          <p:cNvSpPr/>
          <p:nvPr/>
        </p:nvSpPr>
        <p:spPr>
          <a:xfrm>
            <a:off x="8938260" y="1581912"/>
            <a:ext cx="2103120" cy="274320"/>
          </a:xfrm>
          <a:prstGeom prst="rect">
            <a:avLst/>
          </a:prstGeom>
          <a:noFill/>
          <a:ln/>
        </p:spPr>
        <p:txBody>
          <a:bodyPr wrap="square" lIns="0" tIns="0" rIns="0" bIns="0" rtlCol="0" anchor="ctr"/>
          <a:lstStyle/>
          <a:p>
            <a:pPr algn="ctr" indent="0" marL="0">
              <a:buNone/>
            </a:pPr>
            <a:r>
              <a:rPr lang="en-US" sz="1200" b="1" dirty="0">
                <a:solidFill>
                  <a:srgbClr val="0B3C5D"/>
                </a:solidFill>
                <a:latin typeface="Calibri" pitchFamily="34" charset="0"/>
                <a:ea typeface="Calibri" pitchFamily="34" charset="-122"/>
                <a:cs typeface="Calibri" pitchFamily="34" charset="-120"/>
              </a:rPr>
              <a:t>4. Embed  Q3 2027</a:t>
            </a:r>
            <a:endParaRPr lang="en-US" sz="1200" dirty="0"/>
          </a:p>
        </p:txBody>
      </p:sp>
      <p:sp>
        <p:nvSpPr>
          <p:cNvPr id="28" name="Text 26"/>
          <p:cNvSpPr/>
          <p:nvPr/>
        </p:nvSpPr>
        <p:spPr>
          <a:xfrm>
            <a:off x="8938260" y="1874520"/>
            <a:ext cx="2103120" cy="685800"/>
          </a:xfrm>
          <a:prstGeom prst="rect">
            <a:avLst/>
          </a:prstGeom>
          <a:noFill/>
          <a:ln/>
        </p:spPr>
        <p:txBody>
          <a:bodyPr wrap="square" lIns="0" tIns="0" rIns="0" bIns="0" rtlCol="0" anchor="ctr"/>
          <a:lstStyle/>
          <a:p>
            <a:pPr algn="ctr" indent="0" marL="0">
              <a:buNone/>
            </a:pPr>
            <a:r>
              <a:rPr lang="en-US" sz="950" dirty="0">
                <a:solidFill>
                  <a:srgbClr val="5B6B75"/>
                </a:solidFill>
                <a:latin typeface="Calibri" pitchFamily="34" charset="0"/>
                <a:ea typeface="Calibri" pitchFamily="34" charset="-122"/>
                <a:cs typeface="Calibri" pitchFamily="34" charset="-120"/>
              </a:rPr>
              <a:t>Buffer policy live, divisional KPIs, audit-verified benefits</a:t>
            </a:r>
            <a:endParaRPr lang="en-US" sz="950" dirty="0"/>
          </a:p>
        </p:txBody>
      </p:sp>
      <p:sp>
        <p:nvSpPr>
          <p:cNvPr id="29" name="Shape 27"/>
          <p:cNvSpPr/>
          <p:nvPr/>
        </p:nvSpPr>
        <p:spPr>
          <a:xfrm>
            <a:off x="6080760" y="3291840"/>
            <a:ext cx="274320" cy="274320"/>
          </a:xfrm>
          <a:prstGeom prst="diamond">
            <a:avLst/>
          </a:prstGeom>
          <a:solidFill>
            <a:srgbClr val="D9A521"/>
          </a:solidFill>
          <a:ln w="12700">
            <a:solidFill>
              <a:srgbClr val="0B3C5D"/>
            </a:solidFill>
            <a:prstDash val="solid"/>
          </a:ln>
        </p:spPr>
      </p:sp>
      <p:sp>
        <p:nvSpPr>
          <p:cNvPr id="30" name="Shape 28"/>
          <p:cNvSpPr/>
          <p:nvPr/>
        </p:nvSpPr>
        <p:spPr>
          <a:xfrm>
            <a:off x="11109960" y="3291840"/>
            <a:ext cx="274320" cy="274320"/>
          </a:xfrm>
          <a:prstGeom prst="diamond">
            <a:avLst/>
          </a:prstGeom>
          <a:solidFill>
            <a:srgbClr val="D9A521"/>
          </a:solidFill>
          <a:ln w="12700">
            <a:solidFill>
              <a:srgbClr val="0B3C5D"/>
            </a:solidFill>
            <a:prstDash val="solid"/>
          </a:ln>
        </p:spPr>
      </p:sp>
      <p:sp>
        <p:nvSpPr>
          <p:cNvPr id="31" name="Text 29"/>
          <p:cNvSpPr/>
          <p:nvPr/>
        </p:nvSpPr>
        <p:spPr>
          <a:xfrm>
            <a:off x="502920" y="3977640"/>
            <a:ext cx="11155680" cy="320040"/>
          </a:xfrm>
          <a:prstGeom prst="rect">
            <a:avLst/>
          </a:prstGeom>
          <a:noFill/>
          <a:ln/>
        </p:spPr>
        <p:txBody>
          <a:bodyPr wrap="square" lIns="0" tIns="0" rIns="0" bIns="0" rtlCol="0" anchor="ctr"/>
          <a:lstStyle/>
          <a:p>
            <a:pPr marL="177800" indent="-177800">
              <a:buSzPct val="100000"/>
              <a:buChar char="◆"/>
            </a:pPr>
            <a:r>
              <a:rPr lang="en-US" sz="1300" dirty="0">
                <a:solidFill>
                  <a:srgbClr val="1A2A33"/>
                </a:solidFill>
                <a:latin typeface="Calibri" pitchFamily="34" charset="0"/>
                <a:ea typeface="Calibri" pitchFamily="34" charset="-122"/>
                <a:cs typeface="Calibri" pitchFamily="34" charset="-120"/>
              </a:rPr>
              <a:t>GATE 1 (Month 6): governance live? Register, dashboard, USD account operational.</a:t>
            </a:r>
            <a:endParaRPr lang="en-US" sz="1300" dirty="0"/>
          </a:p>
        </p:txBody>
      </p:sp>
      <p:sp>
        <p:nvSpPr>
          <p:cNvPr id="32" name="Text 30"/>
          <p:cNvSpPr/>
          <p:nvPr/>
        </p:nvSpPr>
        <p:spPr>
          <a:xfrm>
            <a:off x="502920" y="4343400"/>
            <a:ext cx="11155680" cy="320040"/>
          </a:xfrm>
          <a:prstGeom prst="rect">
            <a:avLst/>
          </a:prstGeom>
          <a:noFill/>
          <a:ln/>
        </p:spPr>
        <p:txBody>
          <a:bodyPr wrap="square" lIns="0" tIns="0" rIns="0" bIns="0" rtlCol="0" anchor="ctr"/>
          <a:lstStyle/>
          <a:p>
            <a:pPr marL="177800" indent="-177800">
              <a:buSzPct val="100000"/>
              <a:buChar char="◆"/>
            </a:pPr>
            <a:r>
              <a:rPr lang="en-US" sz="1300" dirty="0">
                <a:solidFill>
                  <a:srgbClr val="1A2A33"/>
                </a:solidFill>
                <a:latin typeface="Calibri" pitchFamily="34" charset="0"/>
                <a:ea typeface="Calibri" pitchFamily="34" charset="-122"/>
                <a:cs typeface="Calibri" pitchFamily="34" charset="-120"/>
              </a:rPr>
              <a:t>GATE 2 (Month 12): benefit realization ≥ 35%? If not, execute the de-scope to Option B at known cost.</a:t>
            </a:r>
            <a:endParaRPr lang="en-US" sz="1300" dirty="0"/>
          </a:p>
        </p:txBody>
      </p:sp>
      <p:sp>
        <p:nvSpPr>
          <p:cNvPr id="33" name="Shape 31"/>
          <p:cNvSpPr/>
          <p:nvPr/>
        </p:nvSpPr>
        <p:spPr>
          <a:xfrm>
            <a:off x="502920" y="4709160"/>
            <a:ext cx="11155680" cy="1417320"/>
          </a:xfrm>
          <a:prstGeom prst="roundRect">
            <a:avLst>
              <a:gd name="adj" fmla="val 5161"/>
            </a:avLst>
          </a:prstGeom>
          <a:solidFill>
            <a:srgbClr val="EAF2F7"/>
          </a:solidFill>
          <a:ln/>
        </p:spPr>
      </p:sp>
      <p:sp>
        <p:nvSpPr>
          <p:cNvPr id="34" name="Text 32"/>
          <p:cNvSpPr/>
          <p:nvPr/>
        </p:nvSpPr>
        <p:spPr>
          <a:xfrm>
            <a:off x="731520" y="4892040"/>
            <a:ext cx="10698480" cy="1097280"/>
          </a:xfrm>
          <a:prstGeom prst="rect">
            <a:avLst/>
          </a:prstGeom>
          <a:noFill/>
          <a:ln/>
        </p:spPr>
        <p:txBody>
          <a:bodyPr wrap="square" lIns="0" tIns="0" rIns="0" bIns="0" rtlCol="0" anchor="ctr"/>
          <a:lstStyle/>
          <a:p>
            <a:pPr indent="0" marL="0">
              <a:lnSpc>
                <a:spcPct val="110000"/>
              </a:lnSpc>
              <a:buNone/>
            </a:pPr>
            <a:r>
              <a:rPr lang="en-US" sz="1300" b="1" dirty="0">
                <a:solidFill>
                  <a:srgbClr val="0B3C5D"/>
                </a:solidFill>
                <a:latin typeface="Calibri" pitchFamily="34" charset="0"/>
                <a:ea typeface="Calibri" pitchFamily="34" charset="-122"/>
                <a:cs typeface="Calibri" pitchFamily="34" charset="-120"/>
              </a:rPr>
              <a:t>Outcome targets by owner:  </a:t>
            </a:r>
            <a:pPr indent="0" marL="0">
              <a:lnSpc>
                <a:spcPct val="110000"/>
              </a:lnSpc>
              <a:buNone/>
            </a:pPr>
            <a:r>
              <a:rPr lang="en-US" sz="1300" dirty="0">
                <a:solidFill>
                  <a:srgbClr val="1A2A33"/>
                </a:solidFill>
                <a:latin typeface="Calibri" pitchFamily="34" charset="0"/>
                <a:ea typeface="Calibri" pitchFamily="34" charset="-122"/>
                <a:cs typeface="Calibri" pitchFamily="34" charset="-120"/>
              </a:rPr>
              <a:t>USD billing ≥ 50% of resort clients and ≥ 20% of project revenue by Q2 2027 (GM Business Development)  •  USD procurement spend down 10–15% by Sep 2027 (Procurement)  •  USD reserve ≥ 20% of the MVR 30m target by Mar 2027 (CFO)  •  100% of new foreign-currency contracts legally reviewed with FX clauses from Q4 2026 (Legal)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685800"/>
          </a:xfrm>
          <a:prstGeom prst="rect">
            <a:avLst/>
          </a:prstGeom>
          <a:noFill/>
          <a:ln/>
        </p:spPr>
        <p:txBody>
          <a:bodyPr wrap="square" lIns="0" tIns="0" rIns="0" bIns="0" rtlCol="0" anchor="ctr"/>
          <a:lstStyle/>
          <a:p>
            <a:pPr indent="0" marL="0">
              <a:buNone/>
            </a:pPr>
            <a:r>
              <a:rPr lang="en-US" sz="3200" b="1" dirty="0">
                <a:solidFill>
                  <a:srgbClr val="0B3C5D"/>
                </a:solidFill>
                <a:latin typeface="Cambria" pitchFamily="34" charset="0"/>
                <a:ea typeface="Cambria" pitchFamily="34" charset="-122"/>
                <a:cs typeface="Cambria" pitchFamily="34" charset="-120"/>
              </a:rPr>
              <a:t>Principal risks are owned, triggered and priced</a:t>
            </a:r>
            <a:endParaRPr lang="en-US" sz="3200" dirty="0"/>
          </a:p>
        </p:txBody>
      </p:sp>
      <p:sp>
        <p:nvSpPr>
          <p:cNvPr id="3" name="Text 1"/>
          <p:cNvSpPr/>
          <p:nvPr/>
        </p:nvSpPr>
        <p:spPr>
          <a:xfrm>
            <a:off x="502920" y="987552"/>
            <a:ext cx="11155680" cy="365760"/>
          </a:xfrm>
          <a:prstGeom prst="rect">
            <a:avLst/>
          </a:prstGeom>
          <a:noFill/>
          <a:ln/>
        </p:spPr>
        <p:txBody>
          <a:bodyPr wrap="square" lIns="0" tIns="0" rIns="0" bIns="0" rtlCol="0" anchor="ctr"/>
          <a:lstStyle/>
          <a:p>
            <a:pPr indent="0" marL="0">
              <a:buNone/>
            </a:pPr>
            <a:r>
              <a:rPr lang="en-US" sz="1500" dirty="0">
                <a:solidFill>
                  <a:srgbClr val="5B6B75"/>
                </a:solidFill>
                <a:latin typeface="Calibri" pitchFamily="34" charset="0"/>
                <a:ea typeface="Calibri" pitchFamily="34" charset="-122"/>
                <a:cs typeface="Calibri" pitchFamily="34" charset="-120"/>
              </a:rPr>
              <a:t>Full register in Section 5; any exposure of 12+ escalates to EXCO</a:t>
            </a:r>
            <a:endParaRPr lang="en-US" sz="150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PTMT9002 | Project Fen Rakkaa | Hussain Shaany S2610358</a:t>
            </a:r>
            <a:endParaRPr lang="en-US" sz="900" dirty="0"/>
          </a:p>
        </p:txBody>
      </p:sp>
      <p:sp>
        <p:nvSpPr>
          <p:cNvPr id="5" name="Text 3"/>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02920" y="1600200"/>
            <a:ext cx="4206240" cy="411480"/>
          </a:xfrm>
          <a:prstGeom prst="rect">
            <a:avLst/>
          </a:prstGeom>
          <a:solidFill>
            <a:srgbClr val="0B3C5D"/>
          </a:solidFill>
          <a:ln w="6350">
            <a:solidFill>
              <a:srgbClr val="FFFFFF"/>
            </a:solidFill>
            <a:prstDash val="solid"/>
          </a:ln>
        </p:spPr>
      </p:sp>
      <p:sp>
        <p:nvSpPr>
          <p:cNvPr id="7" name="Text 5"/>
          <p:cNvSpPr/>
          <p:nvPr/>
        </p:nvSpPr>
        <p:spPr>
          <a:xfrm>
            <a:off x="576072" y="1600200"/>
            <a:ext cx="4059936"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 (cause, event, effect)</a:t>
            </a:r>
            <a:endParaRPr lang="en-US" sz="1100" dirty="0"/>
          </a:p>
        </p:txBody>
      </p:sp>
      <p:sp>
        <p:nvSpPr>
          <p:cNvPr id="8" name="Shape 6"/>
          <p:cNvSpPr/>
          <p:nvPr/>
        </p:nvSpPr>
        <p:spPr>
          <a:xfrm>
            <a:off x="4709160" y="1600200"/>
            <a:ext cx="914400" cy="411480"/>
          </a:xfrm>
          <a:prstGeom prst="rect">
            <a:avLst/>
          </a:prstGeom>
          <a:solidFill>
            <a:srgbClr val="0B3C5D"/>
          </a:solidFill>
          <a:ln w="6350">
            <a:solidFill>
              <a:srgbClr val="FFFFFF"/>
            </a:solidFill>
            <a:prstDash val="solid"/>
          </a:ln>
        </p:spPr>
      </p:sp>
      <p:sp>
        <p:nvSpPr>
          <p:cNvPr id="9" name="Text 7"/>
          <p:cNvSpPr/>
          <p:nvPr/>
        </p:nvSpPr>
        <p:spPr>
          <a:xfrm>
            <a:off x="4782312" y="1600200"/>
            <a:ext cx="768096"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Exposure</a:t>
            </a:r>
            <a:endParaRPr lang="en-US" sz="1100" dirty="0"/>
          </a:p>
        </p:txBody>
      </p:sp>
      <p:sp>
        <p:nvSpPr>
          <p:cNvPr id="10" name="Shape 8"/>
          <p:cNvSpPr/>
          <p:nvPr/>
        </p:nvSpPr>
        <p:spPr>
          <a:xfrm>
            <a:off x="5623560" y="1600200"/>
            <a:ext cx="1051560" cy="411480"/>
          </a:xfrm>
          <a:prstGeom prst="rect">
            <a:avLst/>
          </a:prstGeom>
          <a:solidFill>
            <a:srgbClr val="0B3C5D"/>
          </a:solidFill>
          <a:ln w="6350">
            <a:solidFill>
              <a:srgbClr val="FFFFFF"/>
            </a:solidFill>
            <a:prstDash val="solid"/>
          </a:ln>
        </p:spPr>
      </p:sp>
      <p:sp>
        <p:nvSpPr>
          <p:cNvPr id="11" name="Text 9"/>
          <p:cNvSpPr/>
          <p:nvPr/>
        </p:nvSpPr>
        <p:spPr>
          <a:xfrm>
            <a:off x="5696712" y="1600200"/>
            <a:ext cx="905256"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p>
        </p:txBody>
      </p:sp>
      <p:sp>
        <p:nvSpPr>
          <p:cNvPr id="12" name="Shape 10"/>
          <p:cNvSpPr/>
          <p:nvPr/>
        </p:nvSpPr>
        <p:spPr>
          <a:xfrm>
            <a:off x="6675120" y="1600200"/>
            <a:ext cx="3977640" cy="411480"/>
          </a:xfrm>
          <a:prstGeom prst="rect">
            <a:avLst/>
          </a:prstGeom>
          <a:solidFill>
            <a:srgbClr val="0B3C5D"/>
          </a:solidFill>
          <a:ln w="6350">
            <a:solidFill>
              <a:srgbClr val="FFFFFF"/>
            </a:solidFill>
            <a:prstDash val="solid"/>
          </a:ln>
        </p:spPr>
      </p:sp>
      <p:sp>
        <p:nvSpPr>
          <p:cNvPr id="13" name="Text 11"/>
          <p:cNvSpPr/>
          <p:nvPr/>
        </p:nvSpPr>
        <p:spPr>
          <a:xfrm>
            <a:off x="6748272" y="1600200"/>
            <a:ext cx="3831336"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Response and trigger</a:t>
            </a:r>
            <a:endParaRPr lang="en-US" sz="1100" dirty="0"/>
          </a:p>
        </p:txBody>
      </p:sp>
      <p:sp>
        <p:nvSpPr>
          <p:cNvPr id="14" name="Shape 12"/>
          <p:cNvSpPr/>
          <p:nvPr/>
        </p:nvSpPr>
        <p:spPr>
          <a:xfrm>
            <a:off x="10652760" y="1600200"/>
            <a:ext cx="1005840" cy="411480"/>
          </a:xfrm>
          <a:prstGeom prst="rect">
            <a:avLst/>
          </a:prstGeom>
          <a:solidFill>
            <a:srgbClr val="0B3C5D"/>
          </a:solidFill>
          <a:ln w="6350">
            <a:solidFill>
              <a:srgbClr val="FFFFFF"/>
            </a:solidFill>
            <a:prstDash val="solid"/>
          </a:ln>
        </p:spPr>
      </p:sp>
      <p:sp>
        <p:nvSpPr>
          <p:cNvPr id="15" name="Text 13"/>
          <p:cNvSpPr/>
          <p:nvPr/>
        </p:nvSpPr>
        <p:spPr>
          <a:xfrm>
            <a:off x="10725912" y="1600200"/>
            <a:ext cx="859536"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Residual</a:t>
            </a:r>
            <a:endParaRPr lang="en-US" sz="1100" dirty="0"/>
          </a:p>
        </p:txBody>
      </p:sp>
      <p:sp>
        <p:nvSpPr>
          <p:cNvPr id="16" name="Shape 14"/>
          <p:cNvSpPr/>
          <p:nvPr/>
        </p:nvSpPr>
        <p:spPr>
          <a:xfrm>
            <a:off x="502920" y="2011680"/>
            <a:ext cx="4206240" cy="777240"/>
          </a:xfrm>
          <a:prstGeom prst="rect">
            <a:avLst/>
          </a:prstGeom>
          <a:solidFill>
            <a:srgbClr val="FFFFFF"/>
          </a:solidFill>
          <a:ln w="6350">
            <a:solidFill>
              <a:srgbClr val="D5E3EC"/>
            </a:solidFill>
            <a:prstDash val="solid"/>
          </a:ln>
        </p:spPr>
      </p:sp>
      <p:sp>
        <p:nvSpPr>
          <p:cNvPr id="17" name="Text 15"/>
          <p:cNvSpPr/>
          <p:nvPr/>
        </p:nvSpPr>
        <p:spPr>
          <a:xfrm>
            <a:off x="576072" y="2011680"/>
            <a:ext cx="405993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Peg adjustment forces immediate re-pricing of exposure</a:t>
            </a:r>
            <a:endParaRPr lang="en-US" sz="1050" dirty="0"/>
          </a:p>
        </p:txBody>
      </p:sp>
      <p:sp>
        <p:nvSpPr>
          <p:cNvPr id="18" name="Shape 16"/>
          <p:cNvSpPr/>
          <p:nvPr/>
        </p:nvSpPr>
        <p:spPr>
          <a:xfrm>
            <a:off x="4709160" y="2011680"/>
            <a:ext cx="914400" cy="777240"/>
          </a:xfrm>
          <a:prstGeom prst="rect">
            <a:avLst/>
          </a:prstGeom>
          <a:solidFill>
            <a:srgbClr val="FFFFFF"/>
          </a:solidFill>
          <a:ln w="6350">
            <a:solidFill>
              <a:srgbClr val="D5E3EC"/>
            </a:solidFill>
            <a:prstDash val="solid"/>
          </a:ln>
        </p:spPr>
      </p:sp>
      <p:sp>
        <p:nvSpPr>
          <p:cNvPr id="19" name="Text 17"/>
          <p:cNvSpPr/>
          <p:nvPr/>
        </p:nvSpPr>
        <p:spPr>
          <a:xfrm>
            <a:off x="4782312" y="2011680"/>
            <a:ext cx="768096" cy="777240"/>
          </a:xfrm>
          <a:prstGeom prst="rect">
            <a:avLst/>
          </a:prstGeom>
          <a:noFill/>
          <a:ln/>
        </p:spPr>
        <p:txBody>
          <a:bodyPr wrap="square" lIns="0" tIns="0" rIns="0" bIns="0" rtlCol="0" anchor="ctr"/>
          <a:lstStyle/>
          <a:p>
            <a:pPr algn="ctr" indent="0" marL="0">
              <a:buNone/>
            </a:pPr>
            <a:r>
              <a:rPr lang="en-US" sz="1500" b="1" dirty="0">
                <a:solidFill>
                  <a:srgbClr val="B23A2E"/>
                </a:solidFill>
                <a:latin typeface="Calibri" pitchFamily="34" charset="0"/>
                <a:ea typeface="Calibri" pitchFamily="34" charset="-122"/>
                <a:cs typeface="Calibri" pitchFamily="34" charset="-120"/>
              </a:rPr>
              <a:t>15</a:t>
            </a:r>
            <a:endParaRPr lang="en-US" sz="1500" dirty="0"/>
          </a:p>
        </p:txBody>
      </p:sp>
      <p:sp>
        <p:nvSpPr>
          <p:cNvPr id="20" name="Shape 18"/>
          <p:cNvSpPr/>
          <p:nvPr/>
        </p:nvSpPr>
        <p:spPr>
          <a:xfrm>
            <a:off x="5623560" y="2011680"/>
            <a:ext cx="1051560" cy="777240"/>
          </a:xfrm>
          <a:prstGeom prst="rect">
            <a:avLst/>
          </a:prstGeom>
          <a:solidFill>
            <a:srgbClr val="FFFFFF"/>
          </a:solidFill>
          <a:ln w="6350">
            <a:solidFill>
              <a:srgbClr val="D5E3EC"/>
            </a:solidFill>
            <a:prstDash val="solid"/>
          </a:ln>
        </p:spPr>
      </p:sp>
      <p:sp>
        <p:nvSpPr>
          <p:cNvPr id="21" name="Text 19"/>
          <p:cNvSpPr/>
          <p:nvPr/>
        </p:nvSpPr>
        <p:spPr>
          <a:xfrm>
            <a:off x="5696712" y="2011680"/>
            <a:ext cx="90525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CFO</a:t>
            </a:r>
            <a:endParaRPr lang="en-US" sz="1050" dirty="0"/>
          </a:p>
        </p:txBody>
      </p:sp>
      <p:sp>
        <p:nvSpPr>
          <p:cNvPr id="22" name="Shape 20"/>
          <p:cNvSpPr/>
          <p:nvPr/>
        </p:nvSpPr>
        <p:spPr>
          <a:xfrm>
            <a:off x="6675120" y="2011680"/>
            <a:ext cx="3977640" cy="777240"/>
          </a:xfrm>
          <a:prstGeom prst="rect">
            <a:avLst/>
          </a:prstGeom>
          <a:solidFill>
            <a:srgbClr val="FFFFFF"/>
          </a:solidFill>
          <a:ln w="6350">
            <a:solidFill>
              <a:srgbClr val="D5E3EC"/>
            </a:solidFill>
            <a:prstDash val="solid"/>
          </a:ln>
        </p:spPr>
      </p:sp>
      <p:sp>
        <p:nvSpPr>
          <p:cNvPr id="23" name="Text 21"/>
          <p:cNvSpPr/>
          <p:nvPr/>
        </p:nvSpPr>
        <p:spPr>
          <a:xfrm>
            <a:off x="6748272" y="2011680"/>
            <a:ext cx="383133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Planning band 22.00–22.50; re-baseline within 30 days of announcement</a:t>
            </a:r>
            <a:endParaRPr lang="en-US" sz="1050" dirty="0"/>
          </a:p>
        </p:txBody>
      </p:sp>
      <p:sp>
        <p:nvSpPr>
          <p:cNvPr id="24" name="Shape 22"/>
          <p:cNvSpPr/>
          <p:nvPr/>
        </p:nvSpPr>
        <p:spPr>
          <a:xfrm>
            <a:off x="10652760" y="2011680"/>
            <a:ext cx="1005840" cy="777240"/>
          </a:xfrm>
          <a:prstGeom prst="rect">
            <a:avLst/>
          </a:prstGeom>
          <a:solidFill>
            <a:srgbClr val="FFFFFF"/>
          </a:solidFill>
          <a:ln w="6350">
            <a:solidFill>
              <a:srgbClr val="D5E3EC"/>
            </a:solidFill>
            <a:prstDash val="solid"/>
          </a:ln>
        </p:spPr>
      </p:sp>
      <p:sp>
        <p:nvSpPr>
          <p:cNvPr id="25" name="Text 23"/>
          <p:cNvSpPr/>
          <p:nvPr/>
        </p:nvSpPr>
        <p:spPr>
          <a:xfrm>
            <a:off x="10725912" y="2011680"/>
            <a:ext cx="859536" cy="777240"/>
          </a:xfrm>
          <a:prstGeom prst="rect">
            <a:avLst/>
          </a:prstGeom>
          <a:noFill/>
          <a:ln/>
        </p:spPr>
        <p:txBody>
          <a:bodyPr wrap="square" lIns="0" tIns="0" rIns="0" bIns="0" rtlCol="0" anchor="ctr"/>
          <a:lstStyle/>
          <a:p>
            <a:pPr algn="ctr" indent="0" marL="0">
              <a:buNone/>
            </a:pPr>
            <a:r>
              <a:rPr lang="en-US" sz="1500" b="1" dirty="0">
                <a:solidFill>
                  <a:srgbClr val="2E7D5B"/>
                </a:solidFill>
                <a:latin typeface="Calibri" pitchFamily="34" charset="0"/>
                <a:ea typeface="Calibri" pitchFamily="34" charset="-122"/>
                <a:cs typeface="Calibri" pitchFamily="34" charset="-120"/>
              </a:rPr>
              <a:t>8</a:t>
            </a:r>
            <a:endParaRPr lang="en-US" sz="1500" dirty="0"/>
          </a:p>
        </p:txBody>
      </p:sp>
      <p:sp>
        <p:nvSpPr>
          <p:cNvPr id="26" name="Shape 24"/>
          <p:cNvSpPr/>
          <p:nvPr/>
        </p:nvSpPr>
        <p:spPr>
          <a:xfrm>
            <a:off x="502920" y="2788920"/>
            <a:ext cx="4206240" cy="777240"/>
          </a:xfrm>
          <a:prstGeom prst="rect">
            <a:avLst/>
          </a:prstGeom>
          <a:solidFill>
            <a:srgbClr val="EAF2F7"/>
          </a:solidFill>
          <a:ln w="6350">
            <a:solidFill>
              <a:srgbClr val="D5E3EC"/>
            </a:solidFill>
            <a:prstDash val="solid"/>
          </a:ln>
        </p:spPr>
      </p:sp>
      <p:sp>
        <p:nvSpPr>
          <p:cNvPr id="27" name="Text 25"/>
          <p:cNvSpPr/>
          <p:nvPr/>
        </p:nvSpPr>
        <p:spPr>
          <a:xfrm>
            <a:off x="576072" y="2788920"/>
            <a:ext cx="405993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Banks ration USD; imports threatened</a:t>
            </a:r>
            <a:endParaRPr lang="en-US" sz="1050" dirty="0"/>
          </a:p>
        </p:txBody>
      </p:sp>
      <p:sp>
        <p:nvSpPr>
          <p:cNvPr id="28" name="Shape 26"/>
          <p:cNvSpPr/>
          <p:nvPr/>
        </p:nvSpPr>
        <p:spPr>
          <a:xfrm>
            <a:off x="4709160" y="2788920"/>
            <a:ext cx="914400" cy="777240"/>
          </a:xfrm>
          <a:prstGeom prst="rect">
            <a:avLst/>
          </a:prstGeom>
          <a:solidFill>
            <a:srgbClr val="EAF2F7"/>
          </a:solidFill>
          <a:ln w="6350">
            <a:solidFill>
              <a:srgbClr val="D5E3EC"/>
            </a:solidFill>
            <a:prstDash val="solid"/>
          </a:ln>
        </p:spPr>
      </p:sp>
      <p:sp>
        <p:nvSpPr>
          <p:cNvPr id="29" name="Text 27"/>
          <p:cNvSpPr/>
          <p:nvPr/>
        </p:nvSpPr>
        <p:spPr>
          <a:xfrm>
            <a:off x="4782312" y="2788920"/>
            <a:ext cx="768096" cy="777240"/>
          </a:xfrm>
          <a:prstGeom prst="rect">
            <a:avLst/>
          </a:prstGeom>
          <a:noFill/>
          <a:ln/>
        </p:spPr>
        <p:txBody>
          <a:bodyPr wrap="square" lIns="0" tIns="0" rIns="0" bIns="0" rtlCol="0" anchor="ctr"/>
          <a:lstStyle/>
          <a:p>
            <a:pPr algn="ctr" indent="0" marL="0">
              <a:buNone/>
            </a:pPr>
            <a:r>
              <a:rPr lang="en-US" sz="1500" b="1" dirty="0">
                <a:solidFill>
                  <a:srgbClr val="B23A2E"/>
                </a:solidFill>
                <a:latin typeface="Calibri" pitchFamily="34" charset="0"/>
                <a:ea typeface="Calibri" pitchFamily="34" charset="-122"/>
                <a:cs typeface="Calibri" pitchFamily="34" charset="-120"/>
              </a:rPr>
              <a:t>15</a:t>
            </a:r>
            <a:endParaRPr lang="en-US" sz="1500" dirty="0"/>
          </a:p>
        </p:txBody>
      </p:sp>
      <p:sp>
        <p:nvSpPr>
          <p:cNvPr id="30" name="Shape 28"/>
          <p:cNvSpPr/>
          <p:nvPr/>
        </p:nvSpPr>
        <p:spPr>
          <a:xfrm>
            <a:off x="5623560" y="2788920"/>
            <a:ext cx="1051560" cy="777240"/>
          </a:xfrm>
          <a:prstGeom prst="rect">
            <a:avLst/>
          </a:prstGeom>
          <a:solidFill>
            <a:srgbClr val="EAF2F7"/>
          </a:solidFill>
          <a:ln w="6350">
            <a:solidFill>
              <a:srgbClr val="D5E3EC"/>
            </a:solidFill>
            <a:prstDash val="solid"/>
          </a:ln>
        </p:spPr>
      </p:sp>
      <p:sp>
        <p:nvSpPr>
          <p:cNvPr id="31" name="Text 29"/>
          <p:cNvSpPr/>
          <p:nvPr/>
        </p:nvSpPr>
        <p:spPr>
          <a:xfrm>
            <a:off x="5696712" y="2788920"/>
            <a:ext cx="90525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CFO</a:t>
            </a:r>
            <a:endParaRPr lang="en-US" sz="1050" dirty="0"/>
          </a:p>
        </p:txBody>
      </p:sp>
      <p:sp>
        <p:nvSpPr>
          <p:cNvPr id="32" name="Shape 30"/>
          <p:cNvSpPr/>
          <p:nvPr/>
        </p:nvSpPr>
        <p:spPr>
          <a:xfrm>
            <a:off x="6675120" y="2788920"/>
            <a:ext cx="3977640" cy="777240"/>
          </a:xfrm>
          <a:prstGeom prst="rect">
            <a:avLst/>
          </a:prstGeom>
          <a:solidFill>
            <a:srgbClr val="EAF2F7"/>
          </a:solidFill>
          <a:ln w="6350">
            <a:solidFill>
              <a:srgbClr val="D5E3EC"/>
            </a:solidFill>
            <a:prstDash val="solid"/>
          </a:ln>
        </p:spPr>
      </p:sp>
      <p:sp>
        <p:nvSpPr>
          <p:cNvPr id="33" name="Text 31"/>
          <p:cNvSpPr/>
          <p:nvPr/>
        </p:nvSpPr>
        <p:spPr>
          <a:xfrm>
            <a:off x="6748272" y="2788920"/>
            <a:ext cx="383133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Multi-bank relationships; USD buffer; escalate to authorities on refusal</a:t>
            </a:r>
            <a:endParaRPr lang="en-US" sz="1050" dirty="0"/>
          </a:p>
        </p:txBody>
      </p:sp>
      <p:sp>
        <p:nvSpPr>
          <p:cNvPr id="34" name="Shape 32"/>
          <p:cNvSpPr/>
          <p:nvPr/>
        </p:nvSpPr>
        <p:spPr>
          <a:xfrm>
            <a:off x="10652760" y="2788920"/>
            <a:ext cx="1005840" cy="777240"/>
          </a:xfrm>
          <a:prstGeom prst="rect">
            <a:avLst/>
          </a:prstGeom>
          <a:solidFill>
            <a:srgbClr val="EAF2F7"/>
          </a:solidFill>
          <a:ln w="6350">
            <a:solidFill>
              <a:srgbClr val="D5E3EC"/>
            </a:solidFill>
            <a:prstDash val="solid"/>
          </a:ln>
        </p:spPr>
      </p:sp>
      <p:sp>
        <p:nvSpPr>
          <p:cNvPr id="35" name="Text 33"/>
          <p:cNvSpPr/>
          <p:nvPr/>
        </p:nvSpPr>
        <p:spPr>
          <a:xfrm>
            <a:off x="10725912" y="2788920"/>
            <a:ext cx="859536" cy="777240"/>
          </a:xfrm>
          <a:prstGeom prst="rect">
            <a:avLst/>
          </a:prstGeom>
          <a:noFill/>
          <a:ln/>
        </p:spPr>
        <p:txBody>
          <a:bodyPr wrap="square" lIns="0" tIns="0" rIns="0" bIns="0" rtlCol="0" anchor="ctr"/>
          <a:lstStyle/>
          <a:p>
            <a:pPr algn="ctr" indent="0" marL="0">
              <a:buNone/>
            </a:pPr>
            <a:r>
              <a:rPr lang="en-US" sz="1500" b="1" dirty="0">
                <a:solidFill>
                  <a:srgbClr val="2E7D5B"/>
                </a:solidFill>
                <a:latin typeface="Calibri" pitchFamily="34" charset="0"/>
                <a:ea typeface="Calibri" pitchFamily="34" charset="-122"/>
                <a:cs typeface="Calibri" pitchFamily="34" charset="-120"/>
              </a:rPr>
              <a:t>8</a:t>
            </a:r>
            <a:endParaRPr lang="en-US" sz="1500" dirty="0"/>
          </a:p>
        </p:txBody>
      </p:sp>
      <p:sp>
        <p:nvSpPr>
          <p:cNvPr id="36" name="Shape 34"/>
          <p:cNvSpPr/>
          <p:nvPr/>
        </p:nvSpPr>
        <p:spPr>
          <a:xfrm>
            <a:off x="502920" y="3566160"/>
            <a:ext cx="4206240" cy="777240"/>
          </a:xfrm>
          <a:prstGeom prst="rect">
            <a:avLst/>
          </a:prstGeom>
          <a:solidFill>
            <a:srgbClr val="FFFFFF"/>
          </a:solidFill>
          <a:ln w="6350">
            <a:solidFill>
              <a:srgbClr val="D5E3EC"/>
            </a:solidFill>
            <a:prstDash val="solid"/>
          </a:ln>
        </p:spPr>
      </p:sp>
      <p:sp>
        <p:nvSpPr>
          <p:cNvPr id="37" name="Text 35"/>
          <p:cNvSpPr/>
          <p:nvPr/>
        </p:nvSpPr>
        <p:spPr>
          <a:xfrm>
            <a:off x="576072" y="3566160"/>
            <a:ext cx="405993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Resorts reject USD billing; Outcome 1 missed</a:t>
            </a:r>
            <a:endParaRPr lang="en-US" sz="1050" dirty="0"/>
          </a:p>
        </p:txBody>
      </p:sp>
      <p:sp>
        <p:nvSpPr>
          <p:cNvPr id="38" name="Shape 36"/>
          <p:cNvSpPr/>
          <p:nvPr/>
        </p:nvSpPr>
        <p:spPr>
          <a:xfrm>
            <a:off x="4709160" y="3566160"/>
            <a:ext cx="914400" cy="777240"/>
          </a:xfrm>
          <a:prstGeom prst="rect">
            <a:avLst/>
          </a:prstGeom>
          <a:solidFill>
            <a:srgbClr val="FFFFFF"/>
          </a:solidFill>
          <a:ln w="6350">
            <a:solidFill>
              <a:srgbClr val="D5E3EC"/>
            </a:solidFill>
            <a:prstDash val="solid"/>
          </a:ln>
        </p:spPr>
      </p:sp>
      <p:sp>
        <p:nvSpPr>
          <p:cNvPr id="39" name="Text 37"/>
          <p:cNvSpPr/>
          <p:nvPr/>
        </p:nvSpPr>
        <p:spPr>
          <a:xfrm>
            <a:off x="4782312" y="3566160"/>
            <a:ext cx="768096" cy="777240"/>
          </a:xfrm>
          <a:prstGeom prst="rect">
            <a:avLst/>
          </a:prstGeom>
          <a:noFill/>
          <a:ln/>
        </p:spPr>
        <p:txBody>
          <a:bodyPr wrap="square" lIns="0" tIns="0" rIns="0" bIns="0" rtlCol="0" anchor="ctr"/>
          <a:lstStyle/>
          <a:p>
            <a:pPr algn="ctr" indent="0" marL="0">
              <a:buNone/>
            </a:pPr>
            <a:r>
              <a:rPr lang="en-US" sz="1500" b="1" dirty="0">
                <a:solidFill>
                  <a:srgbClr val="B23A2E"/>
                </a:solidFill>
                <a:latin typeface="Calibri" pitchFamily="34" charset="0"/>
                <a:ea typeface="Calibri" pitchFamily="34" charset="-122"/>
                <a:cs typeface="Calibri" pitchFamily="34" charset="-120"/>
              </a:rPr>
              <a:t>12</a:t>
            </a:r>
            <a:endParaRPr lang="en-US" sz="1500" dirty="0"/>
          </a:p>
        </p:txBody>
      </p:sp>
      <p:sp>
        <p:nvSpPr>
          <p:cNvPr id="40" name="Shape 38"/>
          <p:cNvSpPr/>
          <p:nvPr/>
        </p:nvSpPr>
        <p:spPr>
          <a:xfrm>
            <a:off x="5623560" y="3566160"/>
            <a:ext cx="1051560" cy="777240"/>
          </a:xfrm>
          <a:prstGeom prst="rect">
            <a:avLst/>
          </a:prstGeom>
          <a:solidFill>
            <a:srgbClr val="FFFFFF"/>
          </a:solidFill>
          <a:ln w="6350">
            <a:solidFill>
              <a:srgbClr val="D5E3EC"/>
            </a:solidFill>
            <a:prstDash val="solid"/>
          </a:ln>
        </p:spPr>
      </p:sp>
      <p:sp>
        <p:nvSpPr>
          <p:cNvPr id="41" name="Text 39"/>
          <p:cNvSpPr/>
          <p:nvPr/>
        </p:nvSpPr>
        <p:spPr>
          <a:xfrm>
            <a:off x="5696712" y="3566160"/>
            <a:ext cx="90525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GM, BD</a:t>
            </a:r>
            <a:endParaRPr lang="en-US" sz="1050" dirty="0"/>
          </a:p>
        </p:txBody>
      </p:sp>
      <p:sp>
        <p:nvSpPr>
          <p:cNvPr id="42" name="Shape 40"/>
          <p:cNvSpPr/>
          <p:nvPr/>
        </p:nvSpPr>
        <p:spPr>
          <a:xfrm>
            <a:off x="6675120" y="3566160"/>
            <a:ext cx="3977640" cy="777240"/>
          </a:xfrm>
          <a:prstGeom prst="rect">
            <a:avLst/>
          </a:prstGeom>
          <a:solidFill>
            <a:srgbClr val="FFFFFF"/>
          </a:solidFill>
          <a:ln w="6350">
            <a:solidFill>
              <a:srgbClr val="D5E3EC"/>
            </a:solidFill>
            <a:prstDash val="solid"/>
          </a:ln>
        </p:spPr>
      </p:sp>
      <p:sp>
        <p:nvSpPr>
          <p:cNvPr id="43" name="Text 41"/>
          <p:cNvSpPr/>
          <p:nvPr/>
        </p:nvSpPr>
        <p:spPr>
          <a:xfrm>
            <a:off x="6748272" y="3566160"/>
            <a:ext cx="383133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New contracts only; FX-indexed pricing fallback if uptake &lt; 50% by Q1 2027</a:t>
            </a:r>
            <a:endParaRPr lang="en-US" sz="1050" dirty="0"/>
          </a:p>
        </p:txBody>
      </p:sp>
      <p:sp>
        <p:nvSpPr>
          <p:cNvPr id="44" name="Shape 42"/>
          <p:cNvSpPr/>
          <p:nvPr/>
        </p:nvSpPr>
        <p:spPr>
          <a:xfrm>
            <a:off x="10652760" y="3566160"/>
            <a:ext cx="1005840" cy="777240"/>
          </a:xfrm>
          <a:prstGeom prst="rect">
            <a:avLst/>
          </a:prstGeom>
          <a:solidFill>
            <a:srgbClr val="FFFFFF"/>
          </a:solidFill>
          <a:ln w="6350">
            <a:solidFill>
              <a:srgbClr val="D5E3EC"/>
            </a:solidFill>
            <a:prstDash val="solid"/>
          </a:ln>
        </p:spPr>
      </p:sp>
      <p:sp>
        <p:nvSpPr>
          <p:cNvPr id="45" name="Text 43"/>
          <p:cNvSpPr/>
          <p:nvPr/>
        </p:nvSpPr>
        <p:spPr>
          <a:xfrm>
            <a:off x="10725912" y="3566160"/>
            <a:ext cx="859536" cy="777240"/>
          </a:xfrm>
          <a:prstGeom prst="rect">
            <a:avLst/>
          </a:prstGeom>
          <a:noFill/>
          <a:ln/>
        </p:spPr>
        <p:txBody>
          <a:bodyPr wrap="square" lIns="0" tIns="0" rIns="0" bIns="0" rtlCol="0" anchor="ctr"/>
          <a:lstStyle/>
          <a:p>
            <a:pPr algn="ctr" indent="0" marL="0">
              <a:buNone/>
            </a:pPr>
            <a:r>
              <a:rPr lang="en-US" sz="1500" b="1" dirty="0">
                <a:solidFill>
                  <a:srgbClr val="2E7D5B"/>
                </a:solidFill>
                <a:latin typeface="Calibri" pitchFamily="34" charset="0"/>
                <a:ea typeface="Calibri" pitchFamily="34" charset="-122"/>
                <a:cs typeface="Calibri" pitchFamily="34" charset="-120"/>
              </a:rPr>
              <a:t>6</a:t>
            </a:r>
            <a:endParaRPr lang="en-US" sz="1500" dirty="0"/>
          </a:p>
        </p:txBody>
      </p:sp>
      <p:sp>
        <p:nvSpPr>
          <p:cNvPr id="46" name="Shape 44"/>
          <p:cNvSpPr/>
          <p:nvPr/>
        </p:nvSpPr>
        <p:spPr>
          <a:xfrm>
            <a:off x="502920" y="4343400"/>
            <a:ext cx="4206240" cy="777240"/>
          </a:xfrm>
          <a:prstGeom prst="rect">
            <a:avLst/>
          </a:prstGeom>
          <a:solidFill>
            <a:srgbClr val="EAF2F7"/>
          </a:solidFill>
          <a:ln w="6350">
            <a:solidFill>
              <a:srgbClr val="D5E3EC"/>
            </a:solidFill>
            <a:prstDash val="solid"/>
          </a:ln>
        </p:spPr>
      </p:sp>
      <p:sp>
        <p:nvSpPr>
          <p:cNvPr id="47" name="Text 45"/>
          <p:cNvSpPr/>
          <p:nvPr/>
        </p:nvSpPr>
        <p:spPr>
          <a:xfrm>
            <a:off x="576072" y="4343400"/>
            <a:ext cx="405993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Ministry rejects FX clauses in awards</a:t>
            </a:r>
            <a:endParaRPr lang="en-US" sz="1050" dirty="0"/>
          </a:p>
        </p:txBody>
      </p:sp>
      <p:sp>
        <p:nvSpPr>
          <p:cNvPr id="48" name="Shape 46"/>
          <p:cNvSpPr/>
          <p:nvPr/>
        </p:nvSpPr>
        <p:spPr>
          <a:xfrm>
            <a:off x="4709160" y="4343400"/>
            <a:ext cx="914400" cy="777240"/>
          </a:xfrm>
          <a:prstGeom prst="rect">
            <a:avLst/>
          </a:prstGeom>
          <a:solidFill>
            <a:srgbClr val="EAF2F7"/>
          </a:solidFill>
          <a:ln w="6350">
            <a:solidFill>
              <a:srgbClr val="D5E3EC"/>
            </a:solidFill>
            <a:prstDash val="solid"/>
          </a:ln>
        </p:spPr>
      </p:sp>
      <p:sp>
        <p:nvSpPr>
          <p:cNvPr id="49" name="Text 47"/>
          <p:cNvSpPr/>
          <p:nvPr/>
        </p:nvSpPr>
        <p:spPr>
          <a:xfrm>
            <a:off x="4782312" y="4343400"/>
            <a:ext cx="768096" cy="777240"/>
          </a:xfrm>
          <a:prstGeom prst="rect">
            <a:avLst/>
          </a:prstGeom>
          <a:noFill/>
          <a:ln/>
        </p:spPr>
        <p:txBody>
          <a:bodyPr wrap="square" lIns="0" tIns="0" rIns="0" bIns="0" rtlCol="0" anchor="ctr"/>
          <a:lstStyle/>
          <a:p>
            <a:pPr algn="ctr" indent="0" marL="0">
              <a:buNone/>
            </a:pPr>
            <a:r>
              <a:rPr lang="en-US" sz="1500" b="1" dirty="0">
                <a:solidFill>
                  <a:srgbClr val="B23A2E"/>
                </a:solidFill>
                <a:latin typeface="Calibri" pitchFamily="34" charset="0"/>
                <a:ea typeface="Calibri" pitchFamily="34" charset="-122"/>
                <a:cs typeface="Calibri" pitchFamily="34" charset="-120"/>
              </a:rPr>
              <a:t>12</a:t>
            </a:r>
            <a:endParaRPr lang="en-US" sz="1500" dirty="0"/>
          </a:p>
        </p:txBody>
      </p:sp>
      <p:sp>
        <p:nvSpPr>
          <p:cNvPr id="50" name="Shape 48"/>
          <p:cNvSpPr/>
          <p:nvPr/>
        </p:nvSpPr>
        <p:spPr>
          <a:xfrm>
            <a:off x="5623560" y="4343400"/>
            <a:ext cx="1051560" cy="777240"/>
          </a:xfrm>
          <a:prstGeom prst="rect">
            <a:avLst/>
          </a:prstGeom>
          <a:solidFill>
            <a:srgbClr val="EAF2F7"/>
          </a:solidFill>
          <a:ln w="6350">
            <a:solidFill>
              <a:srgbClr val="D5E3EC"/>
            </a:solidFill>
            <a:prstDash val="solid"/>
          </a:ln>
        </p:spPr>
      </p:sp>
      <p:sp>
        <p:nvSpPr>
          <p:cNvPr id="51" name="Text 49"/>
          <p:cNvSpPr/>
          <p:nvPr/>
        </p:nvSpPr>
        <p:spPr>
          <a:xfrm>
            <a:off x="5696712" y="4343400"/>
            <a:ext cx="90525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Legal / CFO</a:t>
            </a:r>
            <a:endParaRPr lang="en-US" sz="1050" dirty="0"/>
          </a:p>
        </p:txBody>
      </p:sp>
      <p:sp>
        <p:nvSpPr>
          <p:cNvPr id="52" name="Shape 50"/>
          <p:cNvSpPr/>
          <p:nvPr/>
        </p:nvSpPr>
        <p:spPr>
          <a:xfrm>
            <a:off x="6675120" y="4343400"/>
            <a:ext cx="3977640" cy="777240"/>
          </a:xfrm>
          <a:prstGeom prst="rect">
            <a:avLst/>
          </a:prstGeom>
          <a:solidFill>
            <a:srgbClr val="EAF2F7"/>
          </a:solidFill>
          <a:ln w="6350">
            <a:solidFill>
              <a:srgbClr val="D5E3EC"/>
            </a:solidFill>
            <a:prstDash val="solid"/>
          </a:ln>
        </p:spPr>
      </p:sp>
      <p:sp>
        <p:nvSpPr>
          <p:cNvPr id="53" name="Text 51"/>
          <p:cNvSpPr/>
          <p:nvPr/>
        </p:nvSpPr>
        <p:spPr>
          <a:xfrm>
            <a:off x="6748272" y="4343400"/>
            <a:ext cx="3831336" cy="777240"/>
          </a:xfrm>
          <a:prstGeom prst="rect">
            <a:avLst/>
          </a:prstGeom>
          <a:noFill/>
          <a:ln/>
        </p:spPr>
        <p:txBody>
          <a:bodyPr wrap="square" lIns="0" tIns="0" rIns="0" bIns="0" rtlCol="0" anchor="ctr"/>
          <a:lstStyle/>
          <a:p>
            <a:pPr algn="l" indent="0" marL="0">
              <a:buNone/>
            </a:pPr>
            <a:r>
              <a:rPr lang="en-US" sz="1050" dirty="0">
                <a:solidFill>
                  <a:srgbClr val="1A2A33"/>
                </a:solidFill>
                <a:latin typeface="Calibri" pitchFamily="34" charset="0"/>
                <a:ea typeface="Calibri" pitchFamily="34" charset="-122"/>
                <a:cs typeface="Calibri" pitchFamily="34" charset="-120"/>
              </a:rPr>
              <a:t>FIDIC precedent drafting; ring-fence funds for unhedged exposure</a:t>
            </a:r>
            <a:endParaRPr lang="en-US" sz="1050" dirty="0"/>
          </a:p>
        </p:txBody>
      </p:sp>
      <p:sp>
        <p:nvSpPr>
          <p:cNvPr id="54" name="Shape 52"/>
          <p:cNvSpPr/>
          <p:nvPr/>
        </p:nvSpPr>
        <p:spPr>
          <a:xfrm>
            <a:off x="10652760" y="4343400"/>
            <a:ext cx="1005840" cy="777240"/>
          </a:xfrm>
          <a:prstGeom prst="rect">
            <a:avLst/>
          </a:prstGeom>
          <a:solidFill>
            <a:srgbClr val="EAF2F7"/>
          </a:solidFill>
          <a:ln w="6350">
            <a:solidFill>
              <a:srgbClr val="D5E3EC"/>
            </a:solidFill>
            <a:prstDash val="solid"/>
          </a:ln>
        </p:spPr>
      </p:sp>
      <p:sp>
        <p:nvSpPr>
          <p:cNvPr id="55" name="Text 53"/>
          <p:cNvSpPr/>
          <p:nvPr/>
        </p:nvSpPr>
        <p:spPr>
          <a:xfrm>
            <a:off x="10725912" y="4343400"/>
            <a:ext cx="859536" cy="777240"/>
          </a:xfrm>
          <a:prstGeom prst="rect">
            <a:avLst/>
          </a:prstGeom>
          <a:noFill/>
          <a:ln/>
        </p:spPr>
        <p:txBody>
          <a:bodyPr wrap="square" lIns="0" tIns="0" rIns="0" bIns="0" rtlCol="0" anchor="ctr"/>
          <a:lstStyle/>
          <a:p>
            <a:pPr algn="ctr" indent="0" marL="0">
              <a:buNone/>
            </a:pPr>
            <a:r>
              <a:rPr lang="en-US" sz="1500" b="1" dirty="0">
                <a:solidFill>
                  <a:srgbClr val="2E7D5B"/>
                </a:solidFill>
                <a:latin typeface="Calibri" pitchFamily="34" charset="0"/>
                <a:ea typeface="Calibri" pitchFamily="34" charset="-122"/>
                <a:cs typeface="Calibri" pitchFamily="34" charset="-120"/>
              </a:rPr>
              <a:t>6</a:t>
            </a:r>
            <a:endParaRPr lang="en-US" sz="1500" dirty="0"/>
          </a:p>
        </p:txBody>
      </p:sp>
      <p:sp>
        <p:nvSpPr>
          <p:cNvPr id="56" name="Text 54"/>
          <p:cNvSpPr/>
          <p:nvPr/>
        </p:nvSpPr>
        <p:spPr>
          <a:xfrm>
            <a:off x="502920" y="5486400"/>
            <a:ext cx="11155680" cy="777240"/>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The register informs the recommendation: </a:t>
            </a:r>
            <a:pPr indent="0" marL="0">
              <a:buNone/>
            </a:pPr>
            <a:r>
              <a:rPr lang="en-US" sz="1500" dirty="0">
                <a:solidFill>
                  <a:srgbClr val="1A2A33"/>
                </a:solidFill>
                <a:latin typeface="Calibri" pitchFamily="34" charset="0"/>
                <a:ea typeface="Calibri" pitchFamily="34" charset="-122"/>
                <a:cs typeface="Calibri" pitchFamily="34" charset="-120"/>
              </a:rPr>
              <a:t>the two highest exposures (peg, USD rationing) are macro events the project cannot prevent, which is exactly why the recommended option builds buffers, bands and fallbacks rather than assuming stability.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2743200" y="5577840"/>
            <a:ext cx="18288000" cy="3657600"/>
          </a:xfrm>
          <a:prstGeom prst="ellipse">
            <a:avLst/>
          </a:prstGeom>
          <a:solidFill>
            <a:srgbClr val="1D6A96">
              <a:alpha val="22000"/>
            </a:srgbClr>
          </a:solidFill>
          <a:ln/>
        </p:spPr>
      </p:sp>
      <p:sp>
        <p:nvSpPr>
          <p:cNvPr id="3" name="Shape 1"/>
          <p:cNvSpPr/>
          <p:nvPr/>
        </p:nvSpPr>
        <p:spPr>
          <a:xfrm>
            <a:off x="-4572000" y="6126480"/>
            <a:ext cx="21945600" cy="3657600"/>
          </a:xfrm>
          <a:prstGeom prst="ellipse">
            <a:avLst/>
          </a:prstGeom>
          <a:solidFill>
            <a:srgbClr val="1D6A96">
              <a:alpha val="40000"/>
            </a:srgbClr>
          </a:solidFill>
          <a:ln/>
        </p:spPr>
      </p:sp>
      <p:sp>
        <p:nvSpPr>
          <p:cNvPr id="4" name="Text 2"/>
          <p:cNvSpPr/>
          <p:nvPr/>
        </p:nvSpPr>
        <p:spPr>
          <a:xfrm>
            <a:off x="822960" y="777240"/>
            <a:ext cx="10515600" cy="365760"/>
          </a:xfrm>
          <a:prstGeom prst="rect">
            <a:avLst/>
          </a:prstGeom>
          <a:noFill/>
          <a:ln/>
        </p:spPr>
        <p:txBody>
          <a:bodyPr wrap="square" lIns="0" tIns="0" rIns="0" bIns="0" rtlCol="0" anchor="ctr"/>
          <a:lstStyle/>
          <a:p>
            <a:pPr indent="0" marL="0">
              <a:buNone/>
            </a:pPr>
            <a:r>
              <a:rPr lang="en-US" sz="1500" spc="200" kern="0" dirty="0">
                <a:solidFill>
                  <a:srgbClr val="9FC2D8"/>
                </a:solidFill>
                <a:latin typeface="Calibri" pitchFamily="34" charset="0"/>
                <a:ea typeface="Calibri" pitchFamily="34" charset="-122"/>
                <a:cs typeface="Calibri" pitchFamily="34" charset="-120"/>
              </a:rPr>
              <a:t>THE DECISION REQUESTED</a:t>
            </a:r>
            <a:endParaRPr lang="en-US" sz="1500" dirty="0"/>
          </a:p>
        </p:txBody>
      </p:sp>
      <p:sp>
        <p:nvSpPr>
          <p:cNvPr id="5" name="Text 3"/>
          <p:cNvSpPr/>
          <p:nvPr/>
        </p:nvSpPr>
        <p:spPr>
          <a:xfrm>
            <a:off x="822960" y="1234440"/>
            <a:ext cx="105156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Approve Option C: Project Fen Rakkaa</a:t>
            </a:r>
            <a:endParaRPr lang="en-US" sz="4000" dirty="0"/>
          </a:p>
        </p:txBody>
      </p:sp>
      <p:sp>
        <p:nvSpPr>
          <p:cNvPr id="6" name="Shape 4"/>
          <p:cNvSpPr/>
          <p:nvPr/>
        </p:nvSpPr>
        <p:spPr>
          <a:xfrm>
            <a:off x="822960" y="2331720"/>
            <a:ext cx="3429000" cy="1783080"/>
          </a:xfrm>
          <a:prstGeom prst="roundRect">
            <a:avLst>
              <a:gd name="adj" fmla="val 4103"/>
            </a:avLst>
          </a:prstGeom>
          <a:solidFill>
            <a:srgbClr val="10486E"/>
          </a:solidFill>
          <a:ln/>
        </p:spPr>
      </p:sp>
      <p:sp>
        <p:nvSpPr>
          <p:cNvPr id="7" name="Text 5"/>
          <p:cNvSpPr/>
          <p:nvPr/>
        </p:nvSpPr>
        <p:spPr>
          <a:xfrm>
            <a:off x="1051560" y="2514600"/>
            <a:ext cx="2971800" cy="548640"/>
          </a:xfrm>
          <a:prstGeom prst="rect">
            <a:avLst/>
          </a:prstGeom>
          <a:noFill/>
          <a:ln/>
        </p:spPr>
        <p:txBody>
          <a:bodyPr wrap="square" lIns="0" tIns="0" rIns="0" bIns="0" rtlCol="0" anchor="ctr"/>
          <a:lstStyle/>
          <a:p>
            <a:pPr indent="0" marL="0">
              <a:buNone/>
            </a:pPr>
            <a:r>
              <a:rPr lang="en-US" sz="2700" b="1" dirty="0">
                <a:solidFill>
                  <a:srgbClr val="D9A521"/>
                </a:solidFill>
                <a:latin typeface="Cambria" pitchFamily="34" charset="0"/>
                <a:ea typeface="Cambria" pitchFamily="34" charset="-122"/>
                <a:cs typeface="Cambria" pitchFamily="34" charset="-120"/>
              </a:rPr>
              <a:t>MVR 4.5m</a:t>
            </a:r>
            <a:endParaRPr lang="en-US" sz="2700" dirty="0"/>
          </a:p>
        </p:txBody>
      </p:sp>
      <p:sp>
        <p:nvSpPr>
          <p:cNvPr id="8" name="Text 6"/>
          <p:cNvSpPr/>
          <p:nvPr/>
        </p:nvSpPr>
        <p:spPr>
          <a:xfrm>
            <a:off x="1051560" y="3108960"/>
            <a:ext cx="2971800" cy="914400"/>
          </a:xfrm>
          <a:prstGeom prst="rect">
            <a:avLst/>
          </a:prstGeom>
          <a:noFill/>
          <a:ln/>
        </p:spPr>
        <p:txBody>
          <a:bodyPr wrap="square" lIns="0" tIns="0" rIns="0" bIns="0" rtlCol="0" anchor="ctr"/>
          <a:lstStyle/>
          <a:p>
            <a:pPr indent="0" marL="0">
              <a:buNone/>
            </a:pPr>
            <a:r>
              <a:rPr lang="en-US" sz="1250" dirty="0">
                <a:solidFill>
                  <a:srgbClr val="DDEAF3"/>
                </a:solidFill>
                <a:latin typeface="Calibri" pitchFamily="34" charset="0"/>
                <a:ea typeface="Calibri" pitchFamily="34" charset="-122"/>
                <a:cs typeface="Calibri" pitchFamily="34" charset="-120"/>
              </a:rPr>
              <a:t>Gated spend. 0.3% of revenue against exposure in the tens of millions</a:t>
            </a:r>
            <a:endParaRPr lang="en-US" sz="1250" dirty="0"/>
          </a:p>
        </p:txBody>
      </p:sp>
      <p:sp>
        <p:nvSpPr>
          <p:cNvPr id="9" name="Shape 7"/>
          <p:cNvSpPr/>
          <p:nvPr/>
        </p:nvSpPr>
        <p:spPr>
          <a:xfrm>
            <a:off x="4480560" y="2331720"/>
            <a:ext cx="3429000" cy="1783080"/>
          </a:xfrm>
          <a:prstGeom prst="roundRect">
            <a:avLst>
              <a:gd name="adj" fmla="val 4103"/>
            </a:avLst>
          </a:prstGeom>
          <a:solidFill>
            <a:srgbClr val="10486E"/>
          </a:solidFill>
          <a:ln/>
        </p:spPr>
      </p:sp>
      <p:sp>
        <p:nvSpPr>
          <p:cNvPr id="10" name="Text 8"/>
          <p:cNvSpPr/>
          <p:nvPr/>
        </p:nvSpPr>
        <p:spPr>
          <a:xfrm>
            <a:off x="4709160" y="2514600"/>
            <a:ext cx="2971800" cy="548640"/>
          </a:xfrm>
          <a:prstGeom prst="rect">
            <a:avLst/>
          </a:prstGeom>
          <a:noFill/>
          <a:ln/>
        </p:spPr>
        <p:txBody>
          <a:bodyPr wrap="square" lIns="0" tIns="0" rIns="0" bIns="0" rtlCol="0" anchor="ctr"/>
          <a:lstStyle/>
          <a:p>
            <a:pPr indent="0" marL="0">
              <a:buNone/>
            </a:pPr>
            <a:r>
              <a:rPr lang="en-US" sz="2700" b="1" dirty="0">
                <a:solidFill>
                  <a:srgbClr val="D9A521"/>
                </a:solidFill>
                <a:latin typeface="Cambria" pitchFamily="34" charset="0"/>
                <a:ea typeface="Cambria" pitchFamily="34" charset="-122"/>
                <a:cs typeface="Cambria" pitchFamily="34" charset="-120"/>
              </a:rPr>
              <a:t>12 months</a:t>
            </a:r>
            <a:endParaRPr lang="en-US" sz="2700" dirty="0"/>
          </a:p>
        </p:txBody>
      </p:sp>
      <p:sp>
        <p:nvSpPr>
          <p:cNvPr id="11" name="Text 9"/>
          <p:cNvSpPr/>
          <p:nvPr/>
        </p:nvSpPr>
        <p:spPr>
          <a:xfrm>
            <a:off x="4709160" y="3108960"/>
            <a:ext cx="2971800" cy="914400"/>
          </a:xfrm>
          <a:prstGeom prst="rect">
            <a:avLst/>
          </a:prstGeom>
          <a:noFill/>
          <a:ln/>
        </p:spPr>
        <p:txBody>
          <a:bodyPr wrap="square" lIns="0" tIns="0" rIns="0" bIns="0" rtlCol="0" anchor="ctr"/>
          <a:lstStyle/>
          <a:p>
            <a:pPr indent="0" marL="0">
              <a:buNone/>
            </a:pPr>
            <a:r>
              <a:rPr lang="en-US" sz="1250" dirty="0">
                <a:solidFill>
                  <a:srgbClr val="DDEAF3"/>
                </a:solidFill>
                <a:latin typeface="Calibri" pitchFamily="34" charset="0"/>
                <a:ea typeface="Calibri" pitchFamily="34" charset="-122"/>
                <a:cs typeface="Calibri" pitchFamily="34" charset="-120"/>
              </a:rPr>
              <a:t>Two gates. Fallback to Option B priced at MVR 1.5m</a:t>
            </a:r>
            <a:endParaRPr lang="en-US" sz="1250" dirty="0"/>
          </a:p>
        </p:txBody>
      </p:sp>
      <p:sp>
        <p:nvSpPr>
          <p:cNvPr id="12" name="Shape 10"/>
          <p:cNvSpPr/>
          <p:nvPr/>
        </p:nvSpPr>
        <p:spPr>
          <a:xfrm>
            <a:off x="8138160" y="2331720"/>
            <a:ext cx="3429000" cy="1783080"/>
          </a:xfrm>
          <a:prstGeom prst="roundRect">
            <a:avLst>
              <a:gd name="adj" fmla="val 4103"/>
            </a:avLst>
          </a:prstGeom>
          <a:solidFill>
            <a:srgbClr val="10486E"/>
          </a:solidFill>
          <a:ln/>
        </p:spPr>
      </p:sp>
      <p:sp>
        <p:nvSpPr>
          <p:cNvPr id="13" name="Text 11"/>
          <p:cNvSpPr/>
          <p:nvPr/>
        </p:nvSpPr>
        <p:spPr>
          <a:xfrm>
            <a:off x="8366760" y="2514600"/>
            <a:ext cx="2971800" cy="548640"/>
          </a:xfrm>
          <a:prstGeom prst="rect">
            <a:avLst/>
          </a:prstGeom>
          <a:noFill/>
          <a:ln/>
        </p:spPr>
        <p:txBody>
          <a:bodyPr wrap="square" lIns="0" tIns="0" rIns="0" bIns="0" rtlCol="0" anchor="ctr"/>
          <a:lstStyle/>
          <a:p>
            <a:pPr indent="0" marL="0">
              <a:buNone/>
            </a:pPr>
            <a:r>
              <a:rPr lang="en-US" sz="2700" b="1" dirty="0">
                <a:solidFill>
                  <a:srgbClr val="D9A521"/>
                </a:solidFill>
                <a:latin typeface="Cambria" pitchFamily="34" charset="0"/>
                <a:ea typeface="Cambria" pitchFamily="34" charset="-122"/>
                <a:cs typeface="Cambria" pitchFamily="34" charset="-120"/>
              </a:rPr>
              <a:t>3 BP26 goals</a:t>
            </a:r>
            <a:endParaRPr lang="en-US" sz="2700" dirty="0"/>
          </a:p>
        </p:txBody>
      </p:sp>
      <p:sp>
        <p:nvSpPr>
          <p:cNvPr id="14" name="Text 12"/>
          <p:cNvSpPr/>
          <p:nvPr/>
        </p:nvSpPr>
        <p:spPr>
          <a:xfrm>
            <a:off x="8366760" y="3108960"/>
            <a:ext cx="2971800" cy="914400"/>
          </a:xfrm>
          <a:prstGeom prst="rect">
            <a:avLst/>
          </a:prstGeom>
          <a:noFill/>
          <a:ln/>
        </p:spPr>
        <p:txBody>
          <a:bodyPr wrap="square" lIns="0" tIns="0" rIns="0" bIns="0" rtlCol="0" anchor="ctr"/>
          <a:lstStyle/>
          <a:p>
            <a:pPr indent="0" marL="0">
              <a:buNone/>
            </a:pPr>
            <a:r>
              <a:rPr lang="en-US" sz="1250" dirty="0">
                <a:solidFill>
                  <a:srgbClr val="DDEAF3"/>
                </a:solidFill>
                <a:latin typeface="Calibri" pitchFamily="34" charset="0"/>
                <a:ea typeface="Calibri" pitchFamily="34" charset="-122"/>
                <a:cs typeface="Calibri" pitchFamily="34" charset="-120"/>
              </a:rPr>
              <a:t>Delivers USD billing (2.3.4), USD reserve (1.5.10) and contract review (3.3.2) already set by the plan</a:t>
            </a:r>
            <a:endParaRPr lang="en-US" sz="1250" dirty="0"/>
          </a:p>
        </p:txBody>
      </p:sp>
      <p:sp>
        <p:nvSpPr>
          <p:cNvPr id="15" name="Text 13"/>
          <p:cNvSpPr/>
          <p:nvPr/>
        </p:nvSpPr>
        <p:spPr>
          <a:xfrm>
            <a:off x="822960" y="4434840"/>
            <a:ext cx="10515600" cy="822960"/>
          </a:xfrm>
          <a:prstGeom prst="rect">
            <a:avLst/>
          </a:prstGeom>
          <a:noFill/>
          <a:ln/>
        </p:spPr>
        <p:txBody>
          <a:bodyPr wrap="square" lIns="0" tIns="0" rIns="0" bIns="0" rtlCol="0" anchor="ctr"/>
          <a:lstStyle/>
          <a:p>
            <a:pPr indent="0" marL="0">
              <a:lnSpc>
                <a:spcPct val="115000"/>
              </a:lnSpc>
              <a:buNone/>
            </a:pPr>
            <a:r>
              <a:rPr lang="en-US" sz="1700" b="1" dirty="0">
                <a:solidFill>
                  <a:srgbClr val="FFFFFF"/>
                </a:solidFill>
                <a:latin typeface="Calibri" pitchFamily="34" charset="0"/>
                <a:ea typeface="Calibri" pitchFamily="34" charset="-122"/>
                <a:cs typeface="Calibri" pitchFamily="34" charset="-120"/>
              </a:rPr>
              <a:t>The causes MWSC can act on are internal. </a:t>
            </a:r>
            <a:pPr indent="0" marL="0">
              <a:lnSpc>
                <a:spcPct val="115000"/>
              </a:lnSpc>
              <a:buNone/>
            </a:pPr>
            <a:r>
              <a:rPr lang="en-US" sz="1700" dirty="0">
                <a:solidFill>
                  <a:srgbClr val="CFE3EF"/>
                </a:solidFill>
                <a:latin typeface="Calibri" pitchFamily="34" charset="0"/>
                <a:ea typeface="Calibri" pitchFamily="34" charset="-122"/>
                <a:cs typeface="Calibri" pitchFamily="34" charset="-120"/>
              </a:rPr>
              <a:t>The appraisal shows Option C beats both alternatives and stays positive even if most estimated benefits fail to appear. Failure is defined in advance, measured at the gates, and priced.</a:t>
            </a:r>
            <a:endParaRPr lang="en-US" sz="1700" dirty="0"/>
          </a:p>
        </p:txBody>
      </p:sp>
      <p:sp>
        <p:nvSpPr>
          <p:cNvPr id="16" name="Text 14"/>
          <p:cNvSpPr/>
          <p:nvPr/>
        </p:nvSpPr>
        <p:spPr>
          <a:xfrm>
            <a:off x="822960" y="5806440"/>
            <a:ext cx="10515600" cy="365760"/>
          </a:xfrm>
          <a:prstGeom prst="rect">
            <a:avLst/>
          </a:prstGeom>
          <a:noFill/>
          <a:ln/>
        </p:spPr>
        <p:txBody>
          <a:bodyPr wrap="square" lIns="0" tIns="0" rIns="0" bIns="0" rtlCol="0" anchor="ctr"/>
          <a:lstStyle/>
          <a:p>
            <a:pPr indent="0" marL="0">
              <a:buNone/>
            </a:pPr>
            <a:r>
              <a:rPr lang="en-US" sz="1300" dirty="0">
                <a:solidFill>
                  <a:srgbClr val="9FC2D8"/>
                </a:solidFill>
                <a:latin typeface="Calibri" pitchFamily="34" charset="0"/>
                <a:ea typeface="Calibri" pitchFamily="34" charset="-122"/>
                <a:cs typeface="Calibri" pitchFamily="34" charset="-120"/>
              </a:rPr>
              <a:t>Hussain Shaany S2610358 | PTMT9002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2026-08-16T12:38:15Z</dcterms:created>
  <dcterms:modified xsi:type="dcterms:W3CDTF">2026-08-16T12:38:15Z</dcterms:modified>
</cp:coreProperties>
</file>